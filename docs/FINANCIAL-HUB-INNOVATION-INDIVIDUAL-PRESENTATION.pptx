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1.png"/><Relationship Id="rId6" Type="http://schemas.openxmlformats.org/officeDocument/2006/relationships/image" Target="../media/image-19-2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1.png"/><Relationship Id="rId10" Type="http://schemas.openxmlformats.org/officeDocument/2006/relationships/image" Target="../media/image-19-2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image" Target="../media/image-22-2.png"/><Relationship Id="rId5" Type="http://schemas.openxmlformats.org/officeDocument/2006/relationships/image" Target="../media/image-22-3.svg"/><Relationship Id="rId6" Type="http://schemas.openxmlformats.org/officeDocument/2006/relationships/image" Target="../media/image-22-2.png"/><Relationship Id="rId7" Type="http://schemas.openxmlformats.org/officeDocument/2006/relationships/image" Target="../media/image-2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Hub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Individual Segment — A Behavior-Driven Financial Intelligence Layer for Every Earner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131171"/>
            <a:ext cx="143387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79" y="4187825"/>
            <a:ext cx="181665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PRE-ALLOCATION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189802" y="4131171"/>
            <a:ext cx="172179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03206" y="4187825"/>
            <a:ext cx="21045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 SAVINGS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006055" y="4131171"/>
            <a:ext cx="258845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9459" y="4187825"/>
            <a:ext cx="29712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DISCIPLINE BY DESIGN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7447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Vision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944936" y="3261221"/>
            <a:ext cx="601339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accelerate inclusive economic growth by building financial infrastructure that transforms financial discipline into the foundation of wealth creation, resilient businesses, quality employment, that empower every individual and business across Africa.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048595"/>
            <a:ext cx="25399" cy="1634927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43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Gaps in Kenya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301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Kenya has expanded financial access, but gaps remain in savings, cash-flow resilience, productive credit, and long-term financial health.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84934"/>
            <a:ext cx="25399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KES 35T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4144863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Money Flow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553545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Processed yearly; savings stay below 12%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437645" y="3284934"/>
            <a:ext cx="25400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68%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3437645" y="414486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Out Monthly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437645" y="455354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salaried Kenyans face shortfalls before payday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3915" y="3284934"/>
            <a:ext cx="25400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5.1M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213915" y="414486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Loan Dependency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13915" y="455354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Kenyans trapped in digital loan cycles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90184" y="3284934"/>
            <a:ext cx="25400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96%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8990184" y="4144863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Earn Under KES 100K/mo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990184" y="4848820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formal workers; only 2.65% of accounts exceed KES 100K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94073"/>
            <a:ext cx="5770220" cy="32698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9202" y="962521"/>
            <a:ext cx="4637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Individual Challenge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899202" y="2332831"/>
            <a:ext cx="4637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finance is only part of the problem. Income arrives as 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lump-sum balance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—rent, food, transport, school fees, and savings all look like one spendable number.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result is a framing problem, not financial illiteracy: people see the full balance as available, spend reactively, and stay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pay slip away from distress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899202" y="4832449"/>
            <a:ext cx="4637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209" y="511919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3450" y="5049738"/>
            <a:ext cx="38340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structural design failure, not a personal failing.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49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Digital vs. Discipline Paradox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76091"/>
            <a:ext cx="5430305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payments are faster than ever and generate more financial data than ever before.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 outcomes haven't improved: mobile money made money move faster, not easier to manage.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59287" y="262165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30177" y="265707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73535" y="2686546"/>
            <a:ext cx="175622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Speed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73535" y="3170833"/>
            <a:ext cx="1756227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M-Pesa transactions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transfers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65996" y="262165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6886" y="265707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780244" y="2686546"/>
            <a:ext cx="175622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Outcomes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780244" y="3466108"/>
            <a:ext cx="1756227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savings rates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Loan cycles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Month-end shortfalls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547045"/>
            <a:ext cx="126024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603698"/>
            <a:ext cx="16430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909788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Hub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400843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intelligent financial operating system — built for every earner in Kenya.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Don't Track Money. We Make It Behave.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13669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feature is an applied behavioral-finance mechanism, live in the product today: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75135"/>
            <a:ext cx="2592620" cy="21445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923" y="2071390"/>
            <a:ext cx="212392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Commitment Devices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33923" y="2724845"/>
            <a:ext cx="2123923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Savings lock for 30–90 days; early unlock requires biometrics and discipline points.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183" y="1875135"/>
            <a:ext cx="2592620" cy="21445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92631" y="2071390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Cooling-Off Friction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692631" y="2447925"/>
            <a:ext cx="212392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Transfers from essentials to leisure pause for 1 hour, based on the user profile.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8892" y="1875135"/>
            <a:ext cx="2592620" cy="21445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51339" y="2071390"/>
            <a:ext cx="212392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Discipline Score (0–100)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451339" y="2724845"/>
            <a:ext cx="212392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points reward good habits and penalize risky ones, with monthly caps.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7600" y="1875135"/>
            <a:ext cx="2592620" cy="21445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10048" y="2071390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Streaks &amp; Rollover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9210048" y="2447925"/>
            <a:ext cx="2123923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Unused daily budgets roll into Savings; milestones reward 3/7/14/30/60/90-day streaks.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185741"/>
            <a:ext cx="2592620" cy="21445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3923" y="4381996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Guardrails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933923" y="4758531"/>
            <a:ext cx="212392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pockets enforce rules, block gambling, and flag daily-cap overrides.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0183" y="4185741"/>
            <a:ext cx="2592620" cy="214451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92631" y="4381996"/>
            <a:ext cx="212392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Adaptive Intelligence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3692631" y="5035451"/>
            <a:ext cx="2123923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planning learns from spending and suggests better allocations.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53" y="1428750"/>
            <a:ext cx="2838379" cy="4000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2028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Intellectual Property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076972"/>
            <a:ext cx="6296860" cy="157817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Hub has secured copyright protection for its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Literary Work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Registration No.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RZ94373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issued by the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Kenya Copyright Board (KECOBO)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IP: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Copyright registration —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RZ94373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Issuing Authority: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Kenya Copyright Board (KECOBO)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Status: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Registered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362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Shilling Arrives with a Job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13941"/>
            <a:ext cx="1086874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Hub is an intelligent financial operating system for individuals. Instead of tracking spending after it happens, it </a:t>
            </a:r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splits income into purpose-bound pockets the moment it arrives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5284" y="1713706"/>
            <a:ext cx="7301028" cy="42607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9" y="3649327"/>
            <a:ext cx="1858514" cy="61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Incoming Income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048009" y="4347646"/>
            <a:ext cx="1858514" cy="423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Funds enter the system.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71686" y="3953653"/>
            <a:ext cx="1858514" cy="61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Hub Allocation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71686" y="4651972"/>
            <a:ext cx="1858514" cy="423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Income is sorted automatically.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5833" y="4323191"/>
            <a:ext cx="1858514" cy="61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Destination Pockets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525833" y="5021510"/>
            <a:ext cx="1858514" cy="6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Money lands in purpose-based accounts.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089055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Income flows into five pockets: Savings (10%, locked), Fixed Costs, Daily Pockets, Loans &amp; Goals, and Emergency Reserve. Unspent daily amounts roll into Savings at midnight.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771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Pillars of Financial Hub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62485"/>
            <a:ext cx="6296860" cy="113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2476897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Organization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885579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Income is automatically routed into purpose-based pockets.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91421"/>
            <a:ext cx="6296860" cy="113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80583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Behavioral Design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4214515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Friction, streaks, and a discipline score support better money habits.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20357"/>
            <a:ext cx="6296860" cy="113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513476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Measurable Outcomes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543451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Savings, discipline, and credit readiness become easier to track.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93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Model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9342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Hub's Individual segment operates a scalable consumer subscription model complemented by embedded financial services.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10892"/>
            <a:ext cx="10868745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core discipline engine — pockets, auto-allocation, protected savings and daily budgeting drive adoption and daily habit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tier — advanced behavioral insights, multi-goal savings, family/shared pockets, deeper analytics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financial services — the discipline score becomes a credit-readiness signal for SACCOs, banks and digital lenders; referral partnerships on savings and credit products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 licensing — the behavioral intelligence layer offered to financial institutions as an API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93385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 is being validated through the pilot phase; the wedge is the free discipline engine, the monetization is the behavioral data layer and embedded services.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284"/>
            <a:ext cx="10868745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 Never Build Budgets. Behavior Builds the Plan.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2156321"/>
            <a:ext cx="521103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6-step behavioral check-in feeds a rules engine that infers the right financial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5533" y="2196207"/>
            <a:ext cx="2516819" cy="1993503"/>
          </a:xfrm>
          <a:prstGeom prst="roundRect">
            <a:avLst>
              <a:gd name="adj" fmla="val 385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4937" y="2385616"/>
            <a:ext cx="2138011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Salaried — Structured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14937" y="3135015"/>
            <a:ext cx="21380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pockets with costs, savings, and spending separated.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19652" y="2196207"/>
            <a:ext cx="2516918" cy="1993503"/>
          </a:xfrm>
          <a:prstGeom prst="roundRect">
            <a:avLst>
              <a:gd name="adj" fmla="val 385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09056" y="2385616"/>
            <a:ext cx="2138111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Salaried — Daily Budget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09056" y="3135015"/>
            <a:ext cx="21381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caps for tighter budgets and spender habits.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5533" y="4367014"/>
            <a:ext cx="2516819" cy="1705074"/>
          </a:xfrm>
          <a:prstGeom prst="roundRect">
            <a:avLst>
              <a:gd name="adj" fmla="val 451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4937" y="4556423"/>
            <a:ext cx="2138011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Freelancer / Gig — Daily Budget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4937" y="5305822"/>
            <a:ext cx="213801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Caps follow real income rhythm, not a fixed month.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19652" y="4367014"/>
            <a:ext cx="2516918" cy="1705074"/>
          </a:xfrm>
          <a:prstGeom prst="roundRect">
            <a:avLst>
              <a:gd name="adj" fmla="val 451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9056" y="4556423"/>
            <a:ext cx="2138111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— Simplified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09056" y="5305822"/>
            <a:ext cx="213811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simple daily spend pocket.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547045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603698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909788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Behavioral Intelligence Layer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661475" y="40084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financial discipline into wealth creation.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4609"/>
            <a:ext cx="10868745" cy="236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Future of Finance is Behavioral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46008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Hub: the individual segment is built. The discipline engine works. Now we scale it.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8163"/>
            <a:ext cx="6296860" cy="2990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KES 5 Million</a:t>
            </a:r>
            <a:endParaRPr lang="en-US" sz="9400" dirty="0"/>
          </a:p>
        </p:txBody>
      </p:sp>
      <p:sp>
        <p:nvSpPr>
          <p:cNvPr id="4" name="Text 1"/>
          <p:cNvSpPr/>
          <p:nvPr/>
        </p:nvSpPr>
        <p:spPr>
          <a:xfrm>
            <a:off x="661475" y="3730427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Raising KES 5 million to scale Financial Hub from validated platform to market-ready growth across Kenya.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61475" y="4402534"/>
            <a:ext cx="6296860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Investment Will Fund: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61475" y="5003006"/>
            <a:ext cx="6296860" cy="1316831"/>
          </a:xfrm>
          <a:prstGeom prst="rect">
            <a:avLst/>
          </a:prstGeom>
          <a:noFill/>
          <a:ln/>
        </p:spPr>
        <p:txBody>
          <a:bodyPr wrap="square" lIns="0" tIns="63794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hardening and the Behavioral Intelligence Layer for personalization, predictive insights, and a partner API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and security compliance for partner integrations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six-month pilot to validate PMF, savings outcomes, and conversion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for commercial scale across Kenya before MSME expansion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547045"/>
            <a:ext cx="831333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603698"/>
            <a:ext cx="12141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909788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Ask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661475" y="40084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Driving impact through strategic partnership.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024856"/>
            <a:ext cx="1861396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081510"/>
            <a:ext cx="22441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OPPORTUNITY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387600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Engine of Kenya's Digital Economy</a:t>
            </a:r>
            <a:endParaRPr lang="en-US" sz="5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21409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for Every Kenyan Earner</a:t>
            </a:r>
            <a:endParaRPr lang="en-US" sz="5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1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System, Three Lives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60810"/>
            <a:ext cx="10868745" cy="144234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933" y="2140148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31909" y="1775222"/>
            <a:ext cx="9683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Salaried Professional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631909" y="2183904"/>
            <a:ext cx="9683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earn KES 60,000 on the 28th. By the 20th I'm borrowing." → Fixed costs set on payday, 10% savings locked automatically, and one clear number for the rest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92165"/>
            <a:ext cx="10868745" cy="144234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933" y="3771503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31909" y="3406577"/>
            <a:ext cx="9683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Gig Worker / Freelancer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1631909" y="3815259"/>
            <a:ext cx="9683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"Income comes in bursts — good week, dead month." → Daily budgets based on real runway, a monthly reset from actual income, and an emergency unlock once a month at most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823520"/>
            <a:ext cx="10868745" cy="1442343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9933" y="5402858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631909" y="5037931"/>
            <a:ext cx="9683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Student / First Earner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1631909" y="5446613"/>
            <a:ext cx="9683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"Budgeting apps are overwhelming." → One simple daily pocket, light guardrails, and a streak that rewards consistency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31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Development &amp; Traction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972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Hub has progressed from concept to a fully built, deployed product — not a mockup.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12318"/>
            <a:ext cx="10868745" cy="322242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Product Development: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complete, working Individual-segment platform: production backend live on Railway, full mobile app (iOS/Android) with onboarding, pocket allocation engine, daily budget system, discipline scoring, streaks, loans, emergency unlock, nudges and insights — all implemented and tested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Institutional Collaboration: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Developed in collaboration with Kabarak University — academic expertise, innovation support, research, technical validation and entrepreneurial mentorship. Winner, NEIL Campus Spark innovation award in Digital Transformation &amp; AI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Behavioral Validation: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Structured user testing with ~30 participants validated the mental-accounting model and refined guardrail tuning; extensive market research confirmed demand for integrated financial management among Kenya's earners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Market Recognition: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Showcased at Nakuru ASK 2026 — awarded Best Stand Embracing Technology and Communication Systems, with strong organic demand from farmers, gig workers and salaried earners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3890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Now?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813024"/>
            <a:ext cx="6296860" cy="328850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53.4M+ Mobile Money Accounts: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Digital payments are mature, but financial management is still fragmented.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Growing Digital Loan Fatigue: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5.1M Kenyans in debt cycles are moving toward sustainable planning.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Changing Nature of Income: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Gig work, side hustles, and irregular earnings need flexible, rhythm-aware budgeting.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Digital Adoption at Scale: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Smartphone penetration and financial literacy are creating ready demand.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Open API Ecosystem: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Banks, fintechs, SACCOs, and mobile money platforms can now connect in one system.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531415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2026 is the right time to build the financial intelligence layer for Africa's next generation of digital financial services.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Engine of Kenya's Digital Economy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1058" y="2308225"/>
            <a:ext cx="5315512" cy="785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05741" y="2372519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331188" y="2663428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TAM — 18.5M Adults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331188" y="2865934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Smartphone-owning Kenyans on mobile money; ~KES 15.5B (~$120M) annually.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058" y="3144341"/>
            <a:ext cx="5315512" cy="785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05741" y="3208635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331188" y="3499545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 — 8.2M Earners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6331188" y="3702050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 Z, Millennials, and informal earners needing better budgeting tools; ~KES 5.5B (~$42M) annually.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1058" y="3980458"/>
            <a:ext cx="5315512" cy="7859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05741" y="4044752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331188" y="4335661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SOM — 150,000 Users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6331188" y="4538166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3-year target: digitally ready earners with structured money management needs.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6221058" y="4822825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Figures are directional estimates pending pilot validation.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13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Team Behind Financial Hub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60041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1824930"/>
            <a:ext cx="192568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Victor Mutua — Team Leader, Innovator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824163"/>
            <a:ext cx="19256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Vision &amp; leadership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7645" y="1760041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51893" y="1824930"/>
            <a:ext cx="192578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Simon Njoroge — IT &amp; Software Lead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051893" y="2824163"/>
            <a:ext cx="19257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architecture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1760041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28163" y="1824930"/>
            <a:ext cx="192578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Emmy Kisang — Financial &amp; Business Lead Advisor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828163" y="3119438"/>
            <a:ext cx="19257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expertise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0184" y="1760041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4432" y="1824930"/>
            <a:ext cx="192578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Darius Mwakireti — Media, Graphics Design &amp; Technical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604432" y="3119438"/>
            <a:ext cx="192578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 identity, UX, and communications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75723" y="4167187"/>
            <a:ext cx="192568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David Juma Awino — IT &amp; Software Assistant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75723" y="5461695"/>
            <a:ext cx="19256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support and coding oversight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1839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Regulatory Compliance &amp; Risk Management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583160"/>
            <a:ext cx="6296860" cy="315634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Infrastructure: Integrates through secure APIs with licensed mobile money, banks &amp; SACCOs. The current build records and orchestrates; it does not move money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Custody &amp; Funds Risk: Financial Hub does not hold customer funds; it securely automates authorized allocations across users' existing regulated financial accounts, with a complete double-entry-style transaction ledger as the source of truth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by Design: Compliant with Kenya's Data Protection Act 2019 &amp; ODPC. Bank-grade security: row-level database isolation, biometric app lock, rate limiting, and audited access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2026-08-26T03:00:43Z</dcterms:created>
  <dcterms:modified xsi:type="dcterms:W3CDTF">2026-08-26T03:00:43Z</dcterms:modified>
</cp:coreProperties>
</file>