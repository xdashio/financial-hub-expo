
<file path=[Content_Types].xml><?xml version="1.0" encoding="utf-8"?>
<Types xmlns="http://schemas.openxmlformats.org/package/2006/content-types">
  <Default Extension="png" ContentType="image/png"/>
  <Default Extension="webp" ContentType="image/webp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75" r:id="rId6"/>
    <p:sldId id="261" r:id="rId7"/>
    <p:sldId id="259" r:id="rId8"/>
    <p:sldId id="272" r:id="rId9"/>
    <p:sldId id="274" r:id="rId10"/>
    <p:sldId id="273" r:id="rId11"/>
    <p:sldId id="269" r:id="rId12"/>
    <p:sldId id="266" r:id="rId13"/>
    <p:sldId id="267" r:id="rId14"/>
    <p:sldId id="263" r:id="rId15"/>
    <p:sldId id="270" r:id="rId16"/>
    <p:sldId id="271" r:id="rId17"/>
  </p:sldIdLst>
  <p:sldSz cx="12192000" cy="6858000"/>
  <p:notesSz cx="6858000" cy="12192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Quattrocento Sans" panose="020B0604020202020204" charset="0"/>
      <p:regular r:id="rId23"/>
    </p:embeddedFont>
    <p:embeddedFont>
      <p:font typeface="Oranienbaum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3" d="100"/>
        <a:sy n="63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353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web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ebp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13" Type="http://schemas.openxmlformats.org/officeDocument/2006/relationships/image" Target="../media/image46.jpeg"/><Relationship Id="rId3" Type="http://schemas.openxmlformats.org/officeDocument/2006/relationships/image" Target="../media/image36.png"/><Relationship Id="rId7" Type="http://schemas.openxmlformats.org/officeDocument/2006/relationships/image" Target="../media/image40.jpeg"/><Relationship Id="rId12" Type="http://schemas.openxmlformats.org/officeDocument/2006/relationships/image" Target="../media/image4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eg"/><Relationship Id="rId11" Type="http://schemas.openxmlformats.org/officeDocument/2006/relationships/image" Target="../media/image44.jpeg"/><Relationship Id="rId5" Type="http://schemas.openxmlformats.org/officeDocument/2006/relationships/image" Target="../media/image38.jpeg"/><Relationship Id="rId10" Type="http://schemas.openxmlformats.org/officeDocument/2006/relationships/image" Target="../media/image43.jpeg"/><Relationship Id="rId4" Type="http://schemas.openxmlformats.org/officeDocument/2006/relationships/image" Target="../media/image37.png"/><Relationship Id="rId9" Type="http://schemas.openxmlformats.org/officeDocument/2006/relationships/image" Target="../media/image42.jpeg"/><Relationship Id="rId14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c07df04d0c8e1802e4a049ebaec6b26c204f96f6.jp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70000"/>
                </a:srgbClr>
              </a:gs>
              <a:gs pos="50000">
                <a:srgbClr val="2B2A28">
                  <a:alpha val="50000"/>
                </a:srgbClr>
              </a:gs>
              <a:gs pos="100000">
                <a:srgbClr val="2B2A28">
                  <a:alpha val="80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480024" y="385763"/>
            <a:ext cx="3228975" cy="504825"/>
          </a:xfrm>
          <a:prstGeom prst="roundRect">
            <a:avLst>
              <a:gd name="adj" fmla="val 15094"/>
            </a:avLst>
          </a:prstGeom>
          <a:solidFill>
            <a:srgbClr val="C9A36A">
              <a:alpha val="20000"/>
            </a:srgbClr>
          </a:solidFill>
          <a:ln w="12700">
            <a:solidFill>
              <a:srgbClr val="C9A36A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70524" y="504825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135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CICSIC AFRICA DIVISION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42965" y="1428750"/>
            <a:ext cx="57054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INUA BUSINESS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2495550"/>
            <a:ext cx="1219200" cy="38100"/>
          </a:xfrm>
          <a:prstGeom prst="roundRect">
            <a:avLst>
              <a:gd name="adj" fmla="val 0"/>
            </a:avLst>
          </a:prstGeom>
          <a:solidFill>
            <a:srgbClr val="C9A36A"/>
          </a:solidFill>
          <a:ln/>
        </p:spPr>
      </p:sp>
      <p:sp>
        <p:nvSpPr>
          <p:cNvPr id="8" name="Text 5"/>
          <p:cNvSpPr/>
          <p:nvPr/>
        </p:nvSpPr>
        <p:spPr>
          <a:xfrm>
            <a:off x="3981896" y="2838450"/>
            <a:ext cx="422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kern="0" spc="6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Diagnose. Grow. Connect.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277148" y="621030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Kabarak University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fricafeaturenetwork.com/72b95969d31cfa768cb8cc8bbd32371fef10bec5.webp"/>
          <p:cNvPicPr>
            <a:picLocks noChangeAspect="1"/>
          </p:cNvPicPr>
          <p:nvPr/>
        </p:nvPicPr>
        <p:blipFill>
          <a:blip r:embed="rId3"/>
          <a:srcRect l="20370" r="20370"/>
          <a:stretch/>
        </p:blipFill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2B2A28"/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987083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2B2A28"/>
          </a:solidFill>
          <a:ln/>
        </p:spPr>
      </p:sp>
      <p:sp>
        <p:nvSpPr>
          <p:cNvPr id="5" name="Text 2"/>
          <p:cNvSpPr/>
          <p:nvPr/>
        </p:nvSpPr>
        <p:spPr>
          <a:xfrm>
            <a:off x="8178998" y="1650206"/>
            <a:ext cx="254317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70%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686800" y="3098006"/>
            <a:ext cx="914400" cy="38100"/>
          </a:xfrm>
          <a:prstGeom prst="roundRect">
            <a:avLst>
              <a:gd name="adj" fmla="val 0"/>
            </a:avLst>
          </a:prstGeom>
          <a:solidFill>
            <a:srgbClr val="C9A36A"/>
          </a:solidFill>
          <a:ln/>
        </p:spPr>
      </p:sp>
      <p:sp>
        <p:nvSpPr>
          <p:cNvPr id="7" name="Text 4"/>
          <p:cNvSpPr/>
          <p:nvPr/>
        </p:nvSpPr>
        <p:spPr>
          <a:xfrm>
            <a:off x="7747248" y="3440906"/>
            <a:ext cx="279082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 smtClean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Kenyan MSMEs fail</a:t>
            </a:r>
            <a:endParaRPr lang="en-US" sz="1600" dirty="0" smtClean="0">
              <a:solidFill>
                <a:schemeClr val="bg1"/>
              </a:solidFill>
            </a:endParaRPr>
          </a:p>
          <a:p>
            <a:pPr algn="ctr">
              <a:lnSpc>
                <a:spcPct val="140000"/>
              </a:lnSpc>
            </a:pPr>
            <a:r>
              <a:rPr lang="en-US" sz="2250" dirty="0" smtClean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 3 years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8068865" y="5072061"/>
            <a:ext cx="2469207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from lack of ambition </a:t>
            </a:r>
            <a:r>
              <a:rPr lang="en-US" sz="2400" dirty="0" smtClean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</a:t>
            </a:r>
            <a:endParaRPr lang="en-US" sz="3200" dirty="0">
              <a:solidFill>
                <a:schemeClr val="bg1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en-US" sz="24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lack of the right tools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178998" y="251291"/>
            <a:ext cx="2152650" cy="70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7.4 Million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78416" y="840581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MSMEs in Kenya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https://kimi-web-img.moonshot.cn/img/peopledaily.digital/202e852be2d04572cf11785af21276be59f529ac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71" y="1220851"/>
            <a:ext cx="5660571" cy="2262578"/>
          </a:xfrm>
          <a:prstGeom prst="roundRect">
            <a:avLst>
              <a:gd name="adj" fmla="val 3333"/>
            </a:avLst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172" y="1220851"/>
            <a:ext cx="5663675" cy="227987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/>
          <a:srcRect b="6812"/>
          <a:stretch/>
        </p:blipFill>
        <p:spPr>
          <a:xfrm>
            <a:off x="6178172" y="3662417"/>
            <a:ext cx="5650969" cy="237793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56" y="1220851"/>
            <a:ext cx="5650969" cy="2257694"/>
          </a:xfrm>
          <a:prstGeom prst="rect">
            <a:avLst/>
          </a:prstGeom>
        </p:spPr>
      </p:pic>
      <p:pic>
        <p:nvPicPr>
          <p:cNvPr id="16" name="Image 3" descr="https://kimi-web-img.moonshot.cn/img/imgv2-2-f.scribdassets.com/f15729271147f95b01aa78b781298dcb1ec8e896"/>
          <p:cNvPicPr>
            <a:picLocks noChangeAspect="1"/>
          </p:cNvPicPr>
          <p:nvPr/>
        </p:nvPicPr>
        <p:blipFill>
          <a:blip r:embed="rId7"/>
          <a:srcRect t="35577" b="35577"/>
          <a:stretch/>
        </p:blipFill>
        <p:spPr>
          <a:xfrm>
            <a:off x="362856" y="3681717"/>
            <a:ext cx="5660571" cy="2177143"/>
          </a:xfrm>
          <a:prstGeom prst="roundRect">
            <a:avLst>
              <a:gd name="adj" fmla="val 3333"/>
            </a:avLst>
          </a:prstGeom>
        </p:spPr>
      </p:pic>
      <p:sp>
        <p:nvSpPr>
          <p:cNvPr id="3" name="Text 1"/>
          <p:cNvSpPr/>
          <p:nvPr/>
        </p:nvSpPr>
        <p:spPr>
          <a:xfrm>
            <a:off x="339276" y="122739"/>
            <a:ext cx="11684000" cy="43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53254" y="1483942"/>
            <a:ext cx="5660571" cy="200732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90000"/>
                </a:srgbClr>
              </a:gs>
              <a:gs pos="50000">
                <a:srgbClr val="2B2A28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544286" y="2757714"/>
            <a:ext cx="540657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No Diagnostic Tools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4286" y="3084286"/>
            <a:ext cx="5370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structured way to measure business health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353254" y="3754354"/>
            <a:ext cx="5660571" cy="2286001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90000"/>
                </a:srgbClr>
              </a:gs>
              <a:gs pos="50000">
                <a:srgbClr val="2B2A28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0" name="Text 6"/>
          <p:cNvSpPr/>
          <p:nvPr/>
        </p:nvSpPr>
        <p:spPr>
          <a:xfrm>
            <a:off x="6350000" y="2757714"/>
            <a:ext cx="540657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Compliance Blind Spots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350000" y="3084286"/>
            <a:ext cx="5370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KRA, NHIF, NSSF, PAYE — invisible penalties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6181276" y="3635728"/>
            <a:ext cx="5660571" cy="239420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90000"/>
                </a:srgbClr>
              </a:gs>
              <a:gs pos="50000">
                <a:srgbClr val="2B2A28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4" name="Text 9"/>
          <p:cNvSpPr/>
          <p:nvPr/>
        </p:nvSpPr>
        <p:spPr>
          <a:xfrm>
            <a:off x="6350000" y="5252533"/>
            <a:ext cx="540657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Fragmented Support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6350000" y="5569508"/>
            <a:ext cx="5532512" cy="250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Training, mentors, funding exist separately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462641" y="5287587"/>
            <a:ext cx="5406571" cy="290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Capital Inaccessible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462641" y="5637376"/>
            <a:ext cx="53702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investor-ready profiles = no funding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20" name="Text 14"/>
          <p:cNvSpPr/>
          <p:nvPr/>
        </p:nvSpPr>
        <p:spPr>
          <a:xfrm>
            <a:off x="390071" y="6329955"/>
            <a:ext cx="1155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</a:t>
            </a:r>
            <a:r>
              <a:rPr lang="en-US" sz="20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isn't broken. It was never built for them</a:t>
            </a:r>
            <a:r>
              <a:rPr lang="en-US" sz="1600" b="1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."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81212" y="462256"/>
            <a:ext cx="11560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Oranienbaum" panose="020B0604020202020204" charset="0"/>
              </a:rPr>
              <a:t>Everyday thousands of Kenyan MSMEs are rejected by financers not because they lack potential, but because they cannot prove it</a:t>
            </a:r>
            <a:endParaRPr lang="en-US" sz="2000" dirty="0">
              <a:latin typeface="Oranienbaum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348644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525248" y="112941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6" name="Shape 3"/>
          <p:cNvSpPr/>
          <p:nvPr/>
        </p:nvSpPr>
        <p:spPr>
          <a:xfrm>
            <a:off x="7706223" y="126479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307848" y="1181941"/>
            <a:ext cx="2371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Assess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09699" y="1378115"/>
            <a:ext cx="3189387" cy="451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10-step business health diagnostic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525248" y="2088357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10" name="Shape 7"/>
          <p:cNvSpPr/>
          <p:nvPr/>
        </p:nvSpPr>
        <p:spPr>
          <a:xfrm>
            <a:off x="7676299" y="2210221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213719" y="1979084"/>
            <a:ext cx="1952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Learn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209699" y="2355057"/>
            <a:ext cx="3386926" cy="34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 smtClean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roadmaps +ICL </a:t>
            </a: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Africa training pathways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98764" y="3036148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14" name="Shape 11"/>
          <p:cNvSpPr/>
          <p:nvPr/>
        </p:nvSpPr>
        <p:spPr>
          <a:xfrm>
            <a:off x="7705158" y="316727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288798" y="3014874"/>
            <a:ext cx="1971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Connect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213719" y="3479423"/>
            <a:ext cx="3382906" cy="392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ASSEK professional </a:t>
            </a:r>
            <a:r>
              <a:rPr lang="en-US" sz="1600" dirty="0" smtClean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network, mentors, service providers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567045" y="4044396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18" name="Shape 15"/>
          <p:cNvSpPr/>
          <p:nvPr/>
        </p:nvSpPr>
        <p:spPr>
          <a:xfrm>
            <a:off x="7711380" y="41481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303663" y="4144131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Grow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6685" y="4396752"/>
            <a:ext cx="3580445" cy="428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Investor &amp; VC linkage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330380" y="5029200"/>
            <a:ext cx="4476750" cy="9525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sp>
        <p:nvSpPr>
          <p:cNvPr id="22" name="Text 19"/>
          <p:cNvSpPr/>
          <p:nvPr/>
        </p:nvSpPr>
        <p:spPr>
          <a:xfrm>
            <a:off x="7825680" y="5254368"/>
            <a:ext cx="457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platform. Four growth levers</a:t>
            </a:r>
            <a:r>
              <a:rPr lang="en-US" sz="15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825680" y="5710097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Kenya. Designed for scale</a:t>
            </a:r>
            <a:r>
              <a:rPr lang="en-US" sz="12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24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3358" y="1662813"/>
            <a:ext cx="7045833" cy="437222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7247" y="752059"/>
            <a:ext cx="67983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readiness platform that moves MSMEs from hidden and informal to visible, compliant and investor-ready.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77954" y="742764"/>
            <a:ext cx="48140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Quattrocento Sans" panose="020B0604020202020204" charset="0"/>
              </a:rPr>
              <a:t>INUA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Quattrocento Sans" panose="020B0604020202020204" charset="0"/>
              </a:rPr>
              <a:t>Turns Fragmented MSME data into standardized investor – ready profiles.</a:t>
            </a:r>
          </a:p>
          <a:p>
            <a:endParaRPr lang="en-US" sz="2400" dirty="0" smtClean="0">
              <a:latin typeface="Quattrocento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Quattrocento Sans" panose="020B0604020202020204" charset="0"/>
              </a:rPr>
              <a:t>Personalized capacity building based on Assessment results</a:t>
            </a:r>
          </a:p>
          <a:p>
            <a:endParaRPr lang="en-US" sz="2400" dirty="0" smtClean="0">
              <a:latin typeface="Quattrocento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Quattrocento Sans" panose="020B0604020202020204" charset="0"/>
              </a:rPr>
              <a:t>Building an ecosystem model instead of another financing platform</a:t>
            </a:r>
          </a:p>
          <a:p>
            <a:endParaRPr lang="en-US" sz="2400" dirty="0" smtClean="0">
              <a:latin typeface="Quattrocento Sa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Quattrocento Sans" panose="020B0604020202020204" charset="0"/>
              </a:rPr>
              <a:t>Creating intelligent data for institutions</a:t>
            </a:r>
            <a:endParaRPr lang="en-US" sz="2400" dirty="0">
              <a:latin typeface="Quattrocento Sans" panose="020B06040202020202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0" y="984811"/>
            <a:ext cx="7070263" cy="52917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3071" y="121024"/>
            <a:ext cx="4047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Oranienbaum" panose="020B0604020202020204" charset="0"/>
              </a:rPr>
              <a:t>PRODUCT MVP</a:t>
            </a:r>
            <a:endParaRPr lang="en-US" sz="2800" b="1" dirty="0">
              <a:latin typeface="Oranienba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54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81000" y="470087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08708" y="4500001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6" name="Text 3"/>
          <p:cNvSpPr/>
          <p:nvPr/>
        </p:nvSpPr>
        <p:spPr>
          <a:xfrm>
            <a:off x="207309" y="448235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1171" y="4539502"/>
            <a:ext cx="2001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Register &amp; Assess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8139" y="4891085"/>
            <a:ext cx="2743200" cy="80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the 10-step business health questionnaire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257410" y="444985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11" name="Text 7"/>
          <p:cNvSpPr/>
          <p:nvPr/>
        </p:nvSpPr>
        <p:spPr>
          <a:xfrm>
            <a:off x="3214547" y="442520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27217" y="4328271"/>
            <a:ext cx="1776412" cy="552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Get Your Score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417233" y="4806202"/>
            <a:ext cx="2819400" cy="890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Detailed health report with category breakdown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6088996" y="4437529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16" name="Text 11"/>
          <p:cNvSpPr/>
          <p:nvPr/>
        </p:nvSpPr>
        <p:spPr>
          <a:xfrm>
            <a:off x="6048093" y="4425202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70604" y="4385982"/>
            <a:ext cx="2396587" cy="4034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Follow Your Roadmap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172200" y="4746810"/>
            <a:ext cx="2895600" cy="87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Personalised training, compliance, and strategy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9026408" y="444985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C9A36A"/>
          </a:solidFill>
          <a:ln/>
        </p:spPr>
      </p:sp>
      <p:sp>
        <p:nvSpPr>
          <p:cNvPr id="21" name="Text 15"/>
          <p:cNvSpPr/>
          <p:nvPr/>
        </p:nvSpPr>
        <p:spPr>
          <a:xfrm>
            <a:off x="8982810" y="4437529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491663" y="4447105"/>
            <a:ext cx="22479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Access Network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9085204" y="4746808"/>
            <a:ext cx="2819400" cy="74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to mentors, peers, and investors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74033" y="4858169"/>
            <a:ext cx="914400" cy="45719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25" name="Shape 19"/>
          <p:cNvSpPr/>
          <p:nvPr/>
        </p:nvSpPr>
        <p:spPr>
          <a:xfrm>
            <a:off x="2735356" y="2343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26" name="Shape 20"/>
          <p:cNvSpPr/>
          <p:nvPr/>
        </p:nvSpPr>
        <p:spPr>
          <a:xfrm>
            <a:off x="3771900" y="4817632"/>
            <a:ext cx="914400" cy="45719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27" name="Shape 21"/>
          <p:cNvSpPr/>
          <p:nvPr/>
        </p:nvSpPr>
        <p:spPr>
          <a:xfrm>
            <a:off x="5896256" y="2279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28" name="Shape 22"/>
          <p:cNvSpPr/>
          <p:nvPr/>
        </p:nvSpPr>
        <p:spPr>
          <a:xfrm>
            <a:off x="6553200" y="4775808"/>
            <a:ext cx="914400" cy="55047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sp>
        <p:nvSpPr>
          <p:cNvPr id="30" name="Shape 24"/>
          <p:cNvSpPr/>
          <p:nvPr/>
        </p:nvSpPr>
        <p:spPr>
          <a:xfrm>
            <a:off x="9677575" y="4776622"/>
            <a:ext cx="914400" cy="45719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63" y="1189658"/>
            <a:ext cx="2444708" cy="315190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3738" y="1212678"/>
            <a:ext cx="2591025" cy="30909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605" y="1004891"/>
            <a:ext cx="2651990" cy="320067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7192" y="1023338"/>
            <a:ext cx="3112870" cy="32433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80000"/>
                </a:srgbClr>
              </a:gs>
              <a:gs pos="50000">
                <a:srgbClr val="2B2A28">
                  <a:alpha val="60000"/>
                </a:srgbClr>
              </a:gs>
              <a:gs pos="100000">
                <a:srgbClr val="2B2A28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5" name="Text 2"/>
          <p:cNvSpPr/>
          <p:nvPr/>
        </p:nvSpPr>
        <p:spPr>
          <a:xfrm>
            <a:off x="304800" y="8953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00" b="1" dirty="0" smtClean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MARKET OPPORTUNITY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8176" y="2676525"/>
            <a:ext cx="3952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7.4M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3375" y="35433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MSMEs in Kenya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42900" y="38862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MSME Policy 2025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121051" y="2743200"/>
            <a:ext cx="3952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44876" y="35433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 Contribution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254401" y="38862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KNBS / State Dept 2025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032700" y="2743200"/>
            <a:ext cx="39528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$984M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56525" y="354330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 Startup Funding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166050" y="3886200"/>
            <a:ext cx="3686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— 32% of all African VC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65873" y="5495925"/>
            <a:ext cx="8072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928585" y="5494804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261482" y="5499173"/>
            <a:ext cx="75373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Uganda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4003849" y="5499173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95997" y="5526908"/>
            <a:ext cx="8819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Tanzania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153233" y="5509372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468609" y="5473513"/>
            <a:ext cx="984201" cy="326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Rwanda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65829" y="5485726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490785" y="5483038"/>
            <a:ext cx="1051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Nigeria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184865" y="5458385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FFFFF">
                    <a:alpha val="4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1241331" y="5381623"/>
            <a:ext cx="702116" cy="29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Africa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Text 29"/>
          <p:cNvSpPr/>
          <p:nvPr/>
        </p:nvSpPr>
        <p:spPr>
          <a:xfrm>
            <a:off x="338138" y="59436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East Africa is the continent's </a:t>
            </a:r>
            <a:r>
              <a:rPr lang="en-US" sz="135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#1 investment region</a:t>
            </a:r>
            <a:endParaRPr lang="en-US" sz="16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18" y="5381623"/>
            <a:ext cx="859611" cy="546062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196" y="5411880"/>
            <a:ext cx="859611" cy="515805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805" y="5411881"/>
            <a:ext cx="865707" cy="51580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2551" y="5411880"/>
            <a:ext cx="902286" cy="534033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7792" y="5381623"/>
            <a:ext cx="883997" cy="532281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2055" y="5196879"/>
            <a:ext cx="689678" cy="730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411"/>
            <a:ext cx="12192000" cy="685799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900921"/>
              </p:ext>
            </p:extLst>
          </p:nvPr>
        </p:nvGraphicFramePr>
        <p:xfrm>
          <a:off x="467658" y="1608851"/>
          <a:ext cx="8127999" cy="3587476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709333"/>
                <a:gridCol w="2709333"/>
                <a:gridCol w="2709333"/>
              </a:tblGrid>
              <a:tr h="668269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Quattrocento Sans" panose="020B0604020202020204" charset="0"/>
                        </a:rPr>
                        <a:t>WHAT</a:t>
                      </a:r>
                      <a:r>
                        <a:rPr lang="en-US" baseline="0" dirty="0" smtClean="0">
                          <a:latin typeface="Quattrocento Sans" panose="020B0604020202020204" charset="0"/>
                        </a:rPr>
                        <a:t> EXISTS</a:t>
                      </a:r>
                      <a:endParaRPr lang="en-US" dirty="0">
                        <a:latin typeface="Quattrocento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WHAT IT DOES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WHAT’ MISSING</a:t>
                      </a:r>
                      <a:endParaRPr lang="en-US" dirty="0"/>
                    </a:p>
                  </a:txBody>
                  <a:tcPr/>
                </a:tc>
              </a:tr>
              <a:tr h="668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Consultants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Advice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Too expensive for MSMEs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68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Templates &amp; Portals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Registration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 readiness diagnosis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6826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Accelerators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Training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Not built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for Kenya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668269"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Inua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Business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All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three- diagnosis + training +investor matching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Nothing missing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49623" y="299283"/>
            <a:ext cx="418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Oranienbaum" panose="020B0604020202020204" charset="0"/>
              </a:rPr>
              <a:t>WHY WE ARE DIFFERENT</a:t>
            </a:r>
            <a:endParaRPr lang="en-US" sz="3200" b="1" dirty="0">
              <a:latin typeface="Oranienbaum" panose="020B06040202020202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70310" y="5712575"/>
            <a:ext cx="7382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Oranienbaum" panose="020B0604020202020204" charset="0"/>
              </a:rPr>
              <a:t>One platform. Local context. Real investor pipeline</a:t>
            </a:r>
            <a:endParaRPr lang="en-US" sz="2800" dirty="0">
              <a:latin typeface="Oranienbaum" panose="020B0604020202020204" charset="0"/>
            </a:endParaRPr>
          </a:p>
        </p:txBody>
      </p:sp>
      <p:sp>
        <p:nvSpPr>
          <p:cNvPr id="8" name="Shape 36"/>
          <p:cNvSpPr/>
          <p:nvPr/>
        </p:nvSpPr>
        <p:spPr>
          <a:xfrm>
            <a:off x="8834718" y="1789488"/>
            <a:ext cx="3133164" cy="3159030"/>
          </a:xfrm>
          <a:prstGeom prst="roundRect">
            <a:avLst>
              <a:gd name="adj" fmla="val 3571"/>
            </a:avLst>
          </a:prstGeom>
          <a:solidFill>
            <a:srgbClr val="C9A36A"/>
          </a:solidFill>
          <a:ln/>
        </p:spPr>
      </p:sp>
      <p:sp>
        <p:nvSpPr>
          <p:cNvPr id="9" name="Text 37"/>
          <p:cNvSpPr/>
          <p:nvPr/>
        </p:nvSpPr>
        <p:spPr>
          <a:xfrm>
            <a:off x="8939157" y="1783766"/>
            <a:ext cx="2924286" cy="394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 smtClean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White Space</a:t>
            </a:r>
            <a:endParaRPr lang="en-US" sz="2000" dirty="0"/>
          </a:p>
        </p:txBody>
      </p:sp>
      <p:sp>
        <p:nvSpPr>
          <p:cNvPr id="10" name="Text 38"/>
          <p:cNvSpPr/>
          <p:nvPr/>
        </p:nvSpPr>
        <p:spPr>
          <a:xfrm>
            <a:off x="8938408" y="2216645"/>
            <a:ext cx="2910361" cy="676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one else occupies this quadrant. Inua Business is the only platform combining</a:t>
            </a: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dirty="0"/>
          </a:p>
        </p:txBody>
      </p:sp>
      <p:sp>
        <p:nvSpPr>
          <p:cNvPr id="11" name="Shape 39"/>
          <p:cNvSpPr/>
          <p:nvPr/>
        </p:nvSpPr>
        <p:spPr>
          <a:xfrm>
            <a:off x="8868849" y="3201850"/>
            <a:ext cx="111402" cy="225645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40"/>
          <p:cNvSpPr/>
          <p:nvPr/>
        </p:nvSpPr>
        <p:spPr>
          <a:xfrm>
            <a:off x="8987564" y="3062724"/>
            <a:ext cx="2357121" cy="451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Kenyan context</a:t>
            </a:r>
            <a:endParaRPr lang="en-US" sz="2400" dirty="0"/>
          </a:p>
        </p:txBody>
      </p:sp>
      <p:sp>
        <p:nvSpPr>
          <p:cNvPr id="13" name="Shape 41"/>
          <p:cNvSpPr/>
          <p:nvPr/>
        </p:nvSpPr>
        <p:spPr>
          <a:xfrm>
            <a:off x="8855440" y="3609469"/>
            <a:ext cx="111402" cy="225645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42"/>
          <p:cNvSpPr/>
          <p:nvPr/>
        </p:nvSpPr>
        <p:spPr>
          <a:xfrm>
            <a:off x="8987564" y="3514014"/>
            <a:ext cx="2523118" cy="366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diagnostic platform</a:t>
            </a:r>
            <a:endParaRPr lang="en-US" sz="2400" dirty="0"/>
          </a:p>
        </p:txBody>
      </p:sp>
      <p:sp>
        <p:nvSpPr>
          <p:cNvPr id="15" name="Shape 43"/>
          <p:cNvSpPr/>
          <p:nvPr/>
        </p:nvSpPr>
        <p:spPr>
          <a:xfrm>
            <a:off x="8868849" y="4060085"/>
            <a:ext cx="111402" cy="225645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44"/>
          <p:cNvSpPr/>
          <p:nvPr/>
        </p:nvSpPr>
        <p:spPr>
          <a:xfrm>
            <a:off x="8987565" y="4146580"/>
            <a:ext cx="2738270" cy="3666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+ training + network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577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6860" y="106704"/>
            <a:ext cx="41685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Oranienbaum" panose="020B0604020202020204" charset="0"/>
              </a:rPr>
              <a:t>IN THE FIELD - MACHACKOS COUNTY</a:t>
            </a:r>
            <a:endParaRPr lang="en-US" sz="2800" b="1" dirty="0">
              <a:solidFill>
                <a:schemeClr val="bg1"/>
              </a:solidFill>
              <a:latin typeface="Oranienbaum" panose="020B060402020202020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6860" y="983867"/>
            <a:ext cx="341555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Oranienbaum" panose="020B0604020202020204" charset="0"/>
              </a:rPr>
              <a:t>ICL Africa Business Training Program. Real MSMEs. Real Training. Real Impact</a:t>
            </a:r>
          </a:p>
          <a:p>
            <a:endParaRPr lang="en-US" sz="2000" dirty="0" smtClean="0">
              <a:solidFill>
                <a:schemeClr val="bg1"/>
              </a:solidFill>
              <a:latin typeface="Oranienbaum" panose="020B0604020202020204" charset="0"/>
            </a:endParaRPr>
          </a:p>
        </p:txBody>
      </p:sp>
      <p:pic>
        <p:nvPicPr>
          <p:cNvPr id="6" name="WhatsApp Video 2026-07-24 at 14.23.0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09564" y="0"/>
            <a:ext cx="7382436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6860" y="2613392"/>
            <a:ext cx="36172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Quattrocento Sans" panose="020B0604020202020204" charset="0"/>
              </a:rPr>
              <a:t>Through I Choose Life Africa’s MSME program, INUA gains access to existing MSME ecosystems for deployment and validation.</a:t>
            </a:r>
            <a:endParaRPr lang="en-US" sz="2000" dirty="0">
              <a:solidFill>
                <a:schemeClr val="bg1"/>
              </a:solidFill>
              <a:latin typeface="Quattrocen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10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0036" y="147919"/>
            <a:ext cx="59301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  <a:latin typeface="Oranienbaum" panose="020B0604020202020204" charset="0"/>
              </a:rPr>
              <a:t>IN THE FIELD – LAIKIPIA COUNTY</a:t>
            </a:r>
            <a:endParaRPr lang="en-US" sz="2800" b="1" dirty="0">
              <a:solidFill>
                <a:schemeClr val="bg1"/>
              </a:solidFill>
              <a:latin typeface="Oranienbaum" panose="020B060402020202020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0036" y="521679"/>
            <a:ext cx="9176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Oranienbaum" panose="020B0604020202020204" charset="0"/>
              </a:rPr>
              <a:t>From </a:t>
            </a:r>
            <a:r>
              <a:rPr lang="en-US" sz="2400" dirty="0" err="1">
                <a:solidFill>
                  <a:schemeClr val="bg1"/>
                </a:solidFill>
                <a:latin typeface="Oranienbaum" panose="020B0604020202020204" charset="0"/>
              </a:rPr>
              <a:t>Laikipia</a:t>
            </a:r>
            <a:r>
              <a:rPr lang="en-US" sz="2400" dirty="0">
                <a:solidFill>
                  <a:schemeClr val="bg1"/>
                </a:solidFill>
                <a:latin typeface="Oranienbaum" panose="020B0604020202020204" charset="0"/>
              </a:rPr>
              <a:t> To </a:t>
            </a:r>
            <a:r>
              <a:rPr lang="en-US" sz="2400" dirty="0" err="1">
                <a:solidFill>
                  <a:schemeClr val="bg1"/>
                </a:solidFill>
                <a:latin typeface="Oranienbaum" panose="020B0604020202020204" charset="0"/>
              </a:rPr>
              <a:t>Machakos</a:t>
            </a:r>
            <a:r>
              <a:rPr lang="en-US" sz="2400" dirty="0">
                <a:solidFill>
                  <a:schemeClr val="bg1"/>
                </a:solidFill>
                <a:latin typeface="Oranienbaum" panose="020B0604020202020204" charset="0"/>
              </a:rPr>
              <a:t> – This is National Reach</a:t>
            </a:r>
          </a:p>
          <a:p>
            <a:endParaRPr lang="en-US" sz="2400" dirty="0">
              <a:solidFill>
                <a:schemeClr val="bg1"/>
              </a:solidFill>
              <a:latin typeface="Oranienbaum" panose="020B0604020202020204" charset="0"/>
            </a:endParaRPr>
          </a:p>
        </p:txBody>
      </p:sp>
      <p:pic>
        <p:nvPicPr>
          <p:cNvPr id="6" name="WhatsApp Video 2026-07-24 at 12.37.0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84295" y="1164417"/>
            <a:ext cx="8417858" cy="559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5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212" y="1314450"/>
            <a:ext cx="2538413" cy="280035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038" y="1295399"/>
            <a:ext cx="2776537" cy="285750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587" y="1299725"/>
            <a:ext cx="2743438" cy="2853175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81000" y="4191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SOCIAL IMPACT</a:t>
            </a:r>
            <a:endParaRPr lang="en-US" sz="1600" dirty="0"/>
          </a:p>
        </p:txBody>
      </p:sp>
      <p:pic>
        <p:nvPicPr>
          <p:cNvPr id="4" name="Image 0" descr="https://kimi-web-img.moonshot.cn/img/africafeaturenetwork.com/72b95969d31cfa768cb8cc8bbd32371fef10bec5.webp"/>
          <p:cNvPicPr>
            <a:picLocks noChangeAspect="1"/>
          </p:cNvPicPr>
          <p:nvPr/>
        </p:nvPicPr>
        <p:blipFill>
          <a:blip r:embed="rId6"/>
          <a:srcRect l="18000" r="18000"/>
          <a:stretch/>
        </p:blipFill>
        <p:spPr>
          <a:xfrm>
            <a:off x="381000" y="1295400"/>
            <a:ext cx="2743200" cy="2857500"/>
          </a:xfrm>
          <a:prstGeom prst="roundRect">
            <a:avLst>
              <a:gd name="adj" fmla="val 2778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376237" y="1143000"/>
            <a:ext cx="2743200" cy="30099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95000"/>
                </a:srgbClr>
              </a:gs>
              <a:gs pos="50000">
                <a:srgbClr val="2B2A2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6" name="Text 3"/>
          <p:cNvSpPr/>
          <p:nvPr/>
        </p:nvSpPr>
        <p:spPr>
          <a:xfrm>
            <a:off x="457200" y="29337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800K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8638" y="34671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Jobs Created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33400" y="37338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annually by Kenyan MSMEs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" name="Image 1" descr="https://kimi-web-img.moonshot.cn/img/africa.unwomen.org/3e7192a45e01a80155ce041a5bf1703c60710519.webp"/>
          <p:cNvPicPr>
            <a:picLocks noChangeAspect="1"/>
          </p:cNvPicPr>
          <p:nvPr/>
        </p:nvPicPr>
        <p:blipFill>
          <a:blip r:embed="rId7"/>
          <a:srcRect l="18000" r="18000"/>
          <a:stretch/>
        </p:blipFill>
        <p:spPr>
          <a:xfrm>
            <a:off x="3276600" y="1295400"/>
            <a:ext cx="2743200" cy="2857500"/>
          </a:xfrm>
          <a:prstGeom prst="roundRect">
            <a:avLst>
              <a:gd name="adj" fmla="val 2778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3276600" y="1295400"/>
            <a:ext cx="2743200" cy="2857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95000"/>
                </a:srgbClr>
              </a:gs>
              <a:gs pos="50000">
                <a:srgbClr val="2B2A2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1" name="Text 7"/>
          <p:cNvSpPr/>
          <p:nvPr/>
        </p:nvSpPr>
        <p:spPr>
          <a:xfrm>
            <a:off x="3352800" y="29337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31.4%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424238" y="34671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Women-Owned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429000" y="37338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SMEs in Kenya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091238" y="1295400"/>
            <a:ext cx="2743200" cy="2857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95000"/>
                </a:srgbClr>
              </a:gs>
              <a:gs pos="50000">
                <a:srgbClr val="2B2A28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</p:sp>
      <p:sp>
        <p:nvSpPr>
          <p:cNvPr id="16" name="Text 11"/>
          <p:cNvSpPr/>
          <p:nvPr/>
        </p:nvSpPr>
        <p:spPr>
          <a:xfrm>
            <a:off x="6276975" y="3009900"/>
            <a:ext cx="2533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40% → 60%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19838" y="34671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GDP Target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24600" y="373380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Inua Business is the tool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 15"/>
          <p:cNvSpPr/>
          <p:nvPr/>
        </p:nvSpPr>
        <p:spPr>
          <a:xfrm>
            <a:off x="9144000" y="3050477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55M+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215438" y="34671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African SMEs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3" name="Text 17"/>
          <p:cNvSpPr/>
          <p:nvPr/>
        </p:nvSpPr>
        <p:spPr>
          <a:xfrm>
            <a:off x="9144000" y="3692810"/>
            <a:ext cx="2579013" cy="275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 need this infrastructure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81000" y="4305300"/>
            <a:ext cx="11430000" cy="1066800"/>
          </a:xfrm>
          <a:prstGeom prst="roundRect">
            <a:avLst>
              <a:gd name="adj" fmla="val 7143"/>
            </a:avLst>
          </a:prstGeom>
          <a:solidFill>
            <a:srgbClr val="2B2A28"/>
          </a:solidFill>
          <a:ln/>
        </p:spPr>
      </p:sp>
      <p:sp>
        <p:nvSpPr>
          <p:cNvPr id="25" name="Text 19"/>
          <p:cNvSpPr/>
          <p:nvPr/>
        </p:nvSpPr>
        <p:spPr>
          <a:xfrm>
            <a:off x="514350" y="4495800"/>
            <a:ext cx="1116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Every business that survives employs someone.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514350" y="4876800"/>
            <a:ext cx="11163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Every business that grows changes a family.</a:t>
            </a:r>
            <a:endParaRPr lang="en-US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5551394"/>
            <a:ext cx="1100529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smtClean="0">
                <a:latin typeface="Quattrocento Sans" panose="020B0604020202020204" charset="0"/>
              </a:rPr>
              <a:t>SDG 1 – No Poverty</a:t>
            </a:r>
          </a:p>
          <a:p>
            <a:pPr algn="ctr"/>
            <a:r>
              <a:rPr lang="en-US" sz="2000" dirty="0" smtClean="0">
                <a:latin typeface="Quattrocento Sans" panose="020B0604020202020204" charset="0"/>
              </a:rPr>
              <a:t>SDG 8 – Decent Work and Economic Growth</a:t>
            </a:r>
          </a:p>
          <a:p>
            <a:pPr algn="ctr"/>
            <a:r>
              <a:rPr lang="en-US" sz="2000" dirty="0" smtClean="0">
                <a:latin typeface="Quattrocento Sans" panose="020B0604020202020204" charset="0"/>
              </a:rPr>
              <a:t>SDG 10 – Reduced Inequalities</a:t>
            </a:r>
          </a:p>
          <a:p>
            <a:pPr algn="ctr"/>
            <a:r>
              <a:rPr lang="en-US" sz="2000" dirty="0" smtClean="0">
                <a:latin typeface="Quattrocento Sans" panose="020B0604020202020204" charset="0"/>
              </a:rPr>
              <a:t>SDG 17 – Partnerships for the Goals</a:t>
            </a:r>
            <a:endParaRPr lang="en-US" sz="2000" dirty="0">
              <a:latin typeface="Quattrocento Sans" panose="020B06040202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23"/>
            <a:ext cx="12192000" cy="68579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kern="0" spc="60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 MODEL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18633" y="1442203"/>
            <a:ext cx="3429000" cy="1143000"/>
          </a:xfrm>
          <a:custGeom>
            <a:avLst/>
            <a:gdLst/>
            <a:ahLst/>
            <a:cxnLst/>
            <a:rect l="l" t="t" r="r" b="b"/>
            <a:pathLst>
              <a:path w="3429000" h="1143000">
                <a:moveTo>
                  <a:pt x="76200" y="0"/>
                </a:moveTo>
                <a:lnTo>
                  <a:pt x="3352800" y="0"/>
                </a:lnTo>
                <a:cubicBezTo>
                  <a:pt x="3394856" y="0"/>
                  <a:pt x="3429000" y="34144"/>
                  <a:pt x="3429000" y="76200"/>
                </a:cubicBezTo>
                <a:lnTo>
                  <a:pt x="3429000" y="1143000"/>
                </a:lnTo>
                <a:lnTo>
                  <a:pt x="0" y="114300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85445" y="1641099"/>
            <a:ext cx="1495373" cy="33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Tier 3 —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1145" y="1978107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2027+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790081" y="2523562"/>
            <a:ext cx="3086100" cy="1143000"/>
          </a:xfrm>
          <a:prstGeom prst="roundRect">
            <a:avLst>
              <a:gd name="adj" fmla="val 0"/>
            </a:avLst>
          </a:prstGeom>
          <a:solidFill>
            <a:srgbClr val="6D6864"/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4456" y="2589113"/>
            <a:ext cx="1657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Tier 2 — Revenue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3506" y="2924168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 2026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961531" y="3595629"/>
            <a:ext cx="2743200" cy="1143000"/>
          </a:xfrm>
          <a:custGeom>
            <a:avLst/>
            <a:gdLst/>
            <a:ahLst/>
            <a:cxnLst/>
            <a:rect l="l" t="t" r="r" b="b"/>
            <a:pathLst>
              <a:path w="2743200" h="1143000">
                <a:moveTo>
                  <a:pt x="0" y="0"/>
                </a:moveTo>
                <a:lnTo>
                  <a:pt x="2743200" y="0"/>
                </a:lnTo>
                <a:lnTo>
                  <a:pt x="2743200" y="1066800"/>
                </a:lnTo>
                <a:cubicBezTo>
                  <a:pt x="2743200" y="1108856"/>
                  <a:pt x="2709056" y="1143000"/>
                  <a:pt x="2667000" y="1143000"/>
                </a:cubicBezTo>
                <a:lnTo>
                  <a:pt x="76200" y="1143000"/>
                </a:lnTo>
                <a:cubicBezTo>
                  <a:pt x="34144" y="1143000"/>
                  <a:pt x="0" y="1108856"/>
                  <a:pt x="0" y="1066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3F3A36"/>
          </a:solidFill>
          <a:ln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4911" y="3696817"/>
            <a:ext cx="1885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Tier 1 — Foundation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62450" y="4066474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Now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18616" y="5218556"/>
            <a:ext cx="51092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Phase one Capital Requirement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USD 69, 546 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Covers MVP development, Pilot deployment and first commercial sales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12741" y="995082"/>
            <a:ext cx="40744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WHO PAYS INUA?</a:t>
            </a:r>
          </a:p>
          <a:p>
            <a:r>
              <a:rPr lang="en-US" sz="2000" dirty="0" smtClean="0"/>
              <a:t>Service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Premium listings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Referral commissions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 smtClean="0"/>
              <a:t>Institutions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Licensing fees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Institutional partnerships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 smtClean="0"/>
              <a:t>Investors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Success fees on financing introductions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 smtClean="0"/>
              <a:t>MSMEs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Premium Assessments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Subscription Services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kern="0" spc="60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SCALING ROADMAP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1114425" cy="38100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sp>
        <p:nvSpPr>
          <p:cNvPr id="5" name="Shape 3"/>
          <p:cNvSpPr/>
          <p:nvPr/>
        </p:nvSpPr>
        <p:spPr>
          <a:xfrm>
            <a:off x="1672679" y="1352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6" name="Text 4"/>
          <p:cNvSpPr/>
          <p:nvPr/>
        </p:nvSpPr>
        <p:spPr>
          <a:xfrm>
            <a:off x="1910804" y="1283073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443609" y="1409700"/>
            <a:ext cx="1114425" cy="38100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sp>
        <p:nvSpPr>
          <p:cNvPr id="8" name="Shape 6"/>
          <p:cNvSpPr/>
          <p:nvPr/>
        </p:nvSpPr>
        <p:spPr>
          <a:xfrm>
            <a:off x="3735288" y="1352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9" name="Text 7"/>
          <p:cNvSpPr/>
          <p:nvPr/>
        </p:nvSpPr>
        <p:spPr>
          <a:xfrm>
            <a:off x="3973413" y="1278591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2027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89996" y="1409700"/>
            <a:ext cx="1114425" cy="38100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sp>
        <p:nvSpPr>
          <p:cNvPr id="11" name="Shape 9"/>
          <p:cNvSpPr/>
          <p:nvPr/>
        </p:nvSpPr>
        <p:spPr>
          <a:xfrm>
            <a:off x="5781675" y="1352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12" name="Text 10"/>
          <p:cNvSpPr/>
          <p:nvPr/>
        </p:nvSpPr>
        <p:spPr>
          <a:xfrm>
            <a:off x="6019800" y="1283073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2028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53795" y="1409700"/>
            <a:ext cx="1114425" cy="38100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sp>
        <p:nvSpPr>
          <p:cNvPr id="14" name="Shape 12"/>
          <p:cNvSpPr/>
          <p:nvPr/>
        </p:nvSpPr>
        <p:spPr>
          <a:xfrm>
            <a:off x="7845475" y="1352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15" name="Text 13"/>
          <p:cNvSpPr/>
          <p:nvPr/>
        </p:nvSpPr>
        <p:spPr>
          <a:xfrm>
            <a:off x="8083600" y="1283073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2029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616553" y="1409700"/>
            <a:ext cx="1114425" cy="38100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8232" y="13525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19050" y="4256"/>
                  <a:pt x="14794" y="0"/>
                  <a:pt x="9525" y="0"/>
                </a:cubicBezTo>
                <a:cubicBezTo>
                  <a:pt x="4256" y="0"/>
                  <a:pt x="0" y="4256"/>
                  <a:pt x="0" y="9525"/>
                </a:cubicBez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106680"/>
                </a:lnTo>
                <a:lnTo>
                  <a:pt x="37713" y="101084"/>
                </a:lnTo>
                <a:cubicBezTo>
                  <a:pt x="50185" y="97334"/>
                  <a:pt x="63639" y="98494"/>
                  <a:pt x="75277" y="104329"/>
                </a:cubicBezTo>
                <a:cubicBezTo>
                  <a:pt x="87987" y="110698"/>
                  <a:pt x="102810" y="111472"/>
                  <a:pt x="116116" y="106472"/>
                </a:cubicBezTo>
                <a:lnTo>
                  <a:pt x="127159" y="102334"/>
                </a:lnTo>
                <a:cubicBezTo>
                  <a:pt x="130879" y="100935"/>
                  <a:pt x="133350" y="97393"/>
                  <a:pt x="133350" y="93405"/>
                </a:cubicBezTo>
                <a:lnTo>
                  <a:pt x="133350" y="19675"/>
                </a:lnTo>
                <a:cubicBezTo>
                  <a:pt x="133350" y="12829"/>
                  <a:pt x="126147" y="8364"/>
                  <a:pt x="120015" y="11430"/>
                </a:cubicBezTo>
                <a:lnTo>
                  <a:pt x="116503" y="13186"/>
                </a:lnTo>
                <a:cubicBezTo>
                  <a:pt x="103138" y="19883"/>
                  <a:pt x="87392" y="19883"/>
                  <a:pt x="73997" y="13186"/>
                </a:cubicBezTo>
                <a:cubicBezTo>
                  <a:pt x="63163" y="7769"/>
                  <a:pt x="50691" y="6697"/>
                  <a:pt x="39112" y="10180"/>
                </a:cubicBezTo>
                <a:lnTo>
                  <a:pt x="19050" y="16193"/>
                </a:lnTo>
                <a:lnTo>
                  <a:pt x="19050" y="9525"/>
                </a:ln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18" name="Text 16"/>
          <p:cNvSpPr/>
          <p:nvPr/>
        </p:nvSpPr>
        <p:spPr>
          <a:xfrm>
            <a:off x="10146357" y="1281953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2030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700296" y="1409700"/>
            <a:ext cx="1114425" cy="38100"/>
          </a:xfrm>
          <a:prstGeom prst="roundRect">
            <a:avLst>
              <a:gd name="adj" fmla="val 0"/>
            </a:avLst>
          </a:prstGeom>
          <a:solidFill>
            <a:srgbClr val="E6E4E1"/>
          </a:solidFill>
          <a:ln/>
        </p:spPr>
      </p:sp>
      <p:pic>
        <p:nvPicPr>
          <p:cNvPr id="20" name="Image 0" descr="https://kimi-web-img.moonshot.cn/img/t4.ftcdn.net/ffb0849ae8ca8cae3bad5a1043de5324fd9a1d53.jpg"/>
          <p:cNvPicPr>
            <a:picLocks noChangeAspect="1"/>
          </p:cNvPicPr>
          <p:nvPr/>
        </p:nvPicPr>
        <p:blipFill>
          <a:blip r:embed="rId3"/>
          <a:srcRect t="16960" b="16960"/>
          <a:stretch/>
        </p:blipFill>
        <p:spPr>
          <a:xfrm>
            <a:off x="381000" y="1587873"/>
            <a:ext cx="2162175" cy="1751481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Text 18"/>
          <p:cNvSpPr/>
          <p:nvPr/>
        </p:nvSpPr>
        <p:spPr>
          <a:xfrm>
            <a:off x="287912" y="3365128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Kenya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64100" y="3657601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500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30775" y="4043084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352425" y="4267200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Live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42900" y="4491318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$0 Revenue</a:t>
            </a:r>
            <a:endParaRPr lang="en-US" sz="2000" dirty="0"/>
          </a:p>
        </p:txBody>
      </p:sp>
      <p:pic>
        <p:nvPicPr>
          <p:cNvPr id="26" name="Image 1" descr="https://kimi-web-img.moonshot.cn/img/destinationuganda.com/6b1f2c9fbf407d1a417520e568775696bfd8f51b.jpg"/>
          <p:cNvPicPr>
            <a:picLocks noChangeAspect="1"/>
          </p:cNvPicPr>
          <p:nvPr/>
        </p:nvPicPr>
        <p:blipFill>
          <a:blip r:embed="rId4"/>
          <a:srcRect t="16960" b="16960"/>
          <a:stretch/>
        </p:blipFill>
        <p:spPr>
          <a:xfrm>
            <a:off x="2697361" y="1596838"/>
            <a:ext cx="2162175" cy="1740274"/>
          </a:xfrm>
          <a:prstGeom prst="roundRect">
            <a:avLst>
              <a:gd name="adj" fmla="val 8000"/>
            </a:avLst>
          </a:prstGeom>
        </p:spPr>
      </p:pic>
      <p:sp>
        <p:nvSpPr>
          <p:cNvPr id="27" name="Text 23"/>
          <p:cNvSpPr/>
          <p:nvPr/>
        </p:nvSpPr>
        <p:spPr>
          <a:xfrm>
            <a:off x="2635982" y="3365128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East Africa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2560912" y="3659844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5,000</a:t>
            </a:r>
            <a:endParaRPr lang="en-US" sz="2000" dirty="0"/>
          </a:p>
        </p:txBody>
      </p:sp>
      <p:sp>
        <p:nvSpPr>
          <p:cNvPr id="29" name="Text 25"/>
          <p:cNvSpPr/>
          <p:nvPr/>
        </p:nvSpPr>
        <p:spPr>
          <a:xfrm>
            <a:off x="2659261" y="4039721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SMEs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2674170" y="4264958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Markets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2648948" y="4493559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 Revenue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4943401" y="3366249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West Africa</a:t>
            </a:r>
            <a:endParaRPr lang="en-US" sz="2000" dirty="0"/>
          </a:p>
        </p:txBody>
      </p:sp>
      <p:sp>
        <p:nvSpPr>
          <p:cNvPr id="34" name="Text 29"/>
          <p:cNvSpPr/>
          <p:nvPr/>
        </p:nvSpPr>
        <p:spPr>
          <a:xfrm>
            <a:off x="4870996" y="3632949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25,000</a:t>
            </a:r>
            <a:endParaRPr lang="en-US" sz="2000" dirty="0"/>
          </a:p>
        </p:txBody>
      </p:sp>
      <p:sp>
        <p:nvSpPr>
          <p:cNvPr id="35" name="Text 30"/>
          <p:cNvSpPr/>
          <p:nvPr/>
        </p:nvSpPr>
        <p:spPr>
          <a:xfrm>
            <a:off x="5029747" y="4043085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SMEs</a:t>
            </a:r>
            <a:endParaRPr lang="en-US" sz="2000" dirty="0"/>
          </a:p>
        </p:txBody>
      </p:sp>
      <p:sp>
        <p:nvSpPr>
          <p:cNvPr id="36" name="Text 31"/>
          <p:cNvSpPr/>
          <p:nvPr/>
        </p:nvSpPr>
        <p:spPr>
          <a:xfrm>
            <a:off x="4990680" y="4264959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Markets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5009108" y="4493559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B2B Licences</a:t>
            </a:r>
            <a:endParaRPr lang="en-US" sz="2000" dirty="0"/>
          </a:p>
        </p:txBody>
      </p:sp>
      <p:pic>
        <p:nvPicPr>
          <p:cNvPr id="38" name="Image 3" descr="https://kimi-web-img.moonshot.cn/img/images.squarespace-cdn.com/d3b563ce8549bc509fd8a74f2279147483a5a7c3.jpg"/>
          <p:cNvPicPr>
            <a:picLocks noChangeAspect="1"/>
          </p:cNvPicPr>
          <p:nvPr/>
        </p:nvPicPr>
        <p:blipFill>
          <a:blip r:embed="rId5"/>
          <a:srcRect t="17223" b="17223"/>
          <a:stretch/>
        </p:blipFill>
        <p:spPr>
          <a:xfrm>
            <a:off x="7330380" y="1638300"/>
            <a:ext cx="2162175" cy="1726828"/>
          </a:xfrm>
          <a:prstGeom prst="roundRect">
            <a:avLst>
              <a:gd name="adj" fmla="val 8000"/>
            </a:avLst>
          </a:prstGeom>
        </p:spPr>
      </p:pic>
      <p:sp>
        <p:nvSpPr>
          <p:cNvPr id="39" name="Text 33"/>
          <p:cNvSpPr/>
          <p:nvPr/>
        </p:nvSpPr>
        <p:spPr>
          <a:xfrm>
            <a:off x="7269917" y="336849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SE Asia</a:t>
            </a:r>
            <a:endParaRPr lang="en-US" sz="2000" dirty="0"/>
          </a:p>
        </p:txBody>
      </p:sp>
      <p:sp>
        <p:nvSpPr>
          <p:cNvPr id="40" name="Text 34"/>
          <p:cNvSpPr/>
          <p:nvPr/>
        </p:nvSpPr>
        <p:spPr>
          <a:xfrm>
            <a:off x="7272267" y="3631828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50,000</a:t>
            </a:r>
            <a:endParaRPr lang="en-US" sz="2000" dirty="0"/>
          </a:p>
        </p:txBody>
      </p:sp>
      <p:sp>
        <p:nvSpPr>
          <p:cNvPr id="41" name="Text 35"/>
          <p:cNvSpPr/>
          <p:nvPr/>
        </p:nvSpPr>
        <p:spPr>
          <a:xfrm>
            <a:off x="7344842" y="4039722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SMEs</a:t>
            </a:r>
            <a:endParaRPr lang="en-US" sz="2000" dirty="0"/>
          </a:p>
        </p:txBody>
      </p:sp>
      <p:sp>
        <p:nvSpPr>
          <p:cNvPr id="42" name="Text 36"/>
          <p:cNvSpPr/>
          <p:nvPr/>
        </p:nvSpPr>
        <p:spPr>
          <a:xfrm>
            <a:off x="7319269" y="4264959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Markets</a:t>
            </a:r>
            <a:endParaRPr lang="en-US" sz="2000" dirty="0"/>
          </a:p>
        </p:txBody>
      </p:sp>
      <p:sp>
        <p:nvSpPr>
          <p:cNvPr id="43" name="Text 37"/>
          <p:cNvSpPr/>
          <p:nvPr/>
        </p:nvSpPr>
        <p:spPr>
          <a:xfrm>
            <a:off x="7370415" y="4486835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Regional Scale</a:t>
            </a:r>
            <a:endParaRPr lang="en-US" sz="2000" dirty="0"/>
          </a:p>
        </p:txBody>
      </p:sp>
      <p:sp>
        <p:nvSpPr>
          <p:cNvPr id="46" name="Text 40"/>
          <p:cNvSpPr/>
          <p:nvPr/>
        </p:nvSpPr>
        <p:spPr>
          <a:xfrm>
            <a:off x="9639299" y="3368490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Global</a:t>
            </a:r>
            <a:endParaRPr lang="en-US" sz="2000" dirty="0"/>
          </a:p>
        </p:txBody>
      </p:sp>
      <p:sp>
        <p:nvSpPr>
          <p:cNvPr id="47" name="Text 41"/>
          <p:cNvSpPr/>
          <p:nvPr/>
        </p:nvSpPr>
        <p:spPr>
          <a:xfrm>
            <a:off x="9642925" y="3700184"/>
            <a:ext cx="2305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 smtClean="0">
                <a:solidFill>
                  <a:srgbClr val="C9A36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100K+</a:t>
            </a:r>
            <a:endParaRPr lang="en-US" sz="2000" dirty="0"/>
          </a:p>
        </p:txBody>
      </p:sp>
      <p:sp>
        <p:nvSpPr>
          <p:cNvPr id="48" name="Text 42"/>
          <p:cNvSpPr/>
          <p:nvPr/>
        </p:nvSpPr>
        <p:spPr>
          <a:xfrm>
            <a:off x="9648825" y="4039722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SMEs</a:t>
            </a:r>
            <a:endParaRPr lang="en-US" sz="2000" dirty="0"/>
          </a:p>
        </p:txBody>
      </p:sp>
      <p:sp>
        <p:nvSpPr>
          <p:cNvPr id="49" name="Text 43"/>
          <p:cNvSpPr/>
          <p:nvPr/>
        </p:nvSpPr>
        <p:spPr>
          <a:xfrm>
            <a:off x="9730978" y="4271685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Product</a:t>
            </a:r>
            <a:endParaRPr lang="en-US" sz="2000" dirty="0"/>
          </a:p>
        </p:txBody>
      </p:sp>
      <p:sp>
        <p:nvSpPr>
          <p:cNvPr id="50" name="Text 44"/>
          <p:cNvSpPr/>
          <p:nvPr/>
        </p:nvSpPr>
        <p:spPr>
          <a:xfrm>
            <a:off x="9608790" y="4493559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6D68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Intelligence</a:t>
            </a:r>
            <a:endParaRPr lang="en-US" sz="2000" dirty="0"/>
          </a:p>
        </p:txBody>
      </p:sp>
      <p:sp>
        <p:nvSpPr>
          <p:cNvPr id="51" name="Shape 45"/>
          <p:cNvSpPr/>
          <p:nvPr/>
        </p:nvSpPr>
        <p:spPr>
          <a:xfrm>
            <a:off x="381000" y="4991100"/>
            <a:ext cx="11430000" cy="838200"/>
          </a:xfrm>
          <a:prstGeom prst="roundRect">
            <a:avLst>
              <a:gd name="adj" fmla="val 9091"/>
            </a:avLst>
          </a:prstGeom>
          <a:solidFill>
            <a:srgbClr val="2B2A28"/>
          </a:solidFill>
          <a:ln/>
        </p:spPr>
      </p:sp>
      <p:sp>
        <p:nvSpPr>
          <p:cNvPr id="52" name="Text 46"/>
          <p:cNvSpPr/>
          <p:nvPr/>
        </p:nvSpPr>
        <p:spPr>
          <a:xfrm>
            <a:off x="485775" y="5062818"/>
            <a:ext cx="1121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M-PESA started in Nairobi. It became the world's blueprint for mobile money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53" name="Text 47"/>
          <p:cNvSpPr/>
          <p:nvPr/>
        </p:nvSpPr>
        <p:spPr>
          <a:xfrm>
            <a:off x="655290" y="5381065"/>
            <a:ext cx="1120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Kenya's government targets MSME GDP: 40% → 60%. Inua Business is the infrastructure that gets them there</a:t>
            </a:r>
            <a:r>
              <a:rPr lang="en-US" sz="12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8450" y="1621490"/>
            <a:ext cx="2168716" cy="1755961"/>
          </a:xfrm>
          <a:prstGeom prst="rect">
            <a:avLst/>
          </a:prstGeom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055" y="1596838"/>
            <a:ext cx="1914525" cy="17402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0"/>
          <p:cNvSpPr/>
          <p:nvPr/>
        </p:nvSpPr>
        <p:spPr>
          <a:xfrm>
            <a:off x="8132713" y="1300163"/>
            <a:ext cx="3676650" cy="3019425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59163" y="1300163"/>
            <a:ext cx="3676650" cy="3019425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85763" y="1300163"/>
            <a:ext cx="3676650" cy="3019425"/>
          </a:xfrm>
          <a:prstGeom prst="roundRect">
            <a:avLst>
              <a:gd name="adj" fmla="val 2524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403" y="1406900"/>
            <a:ext cx="2133600" cy="1971674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381000" y="537323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Traction &amp; Partnerships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81025" y="2981325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ICL Africa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84213" y="3443287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Co-creator &amp; Distribution Partner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4213" y="3718672"/>
            <a:ext cx="3676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Kenya-wide SME reach and training infrastructure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454426" y="2981325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ASSEK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454426" y="336232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&amp; Community Layer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454426" y="366712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Entrepreneur ecosystem access and peer network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327975" y="2981325"/>
            <a:ext cx="3400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Kabarak University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327975" y="3362325"/>
            <a:ext cx="3362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&amp; Development Base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27975" y="3667125"/>
            <a:ext cx="3362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Institutional credibility and academic rigor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381000" y="4476750"/>
            <a:ext cx="11430000" cy="914400"/>
          </a:xfrm>
          <a:prstGeom prst="roundRect">
            <a:avLst>
              <a:gd name="adj" fmla="val 8333"/>
            </a:avLst>
          </a:prstGeom>
          <a:solidFill>
            <a:srgbClr val="2B2A28"/>
          </a:solidFill>
          <a:ln/>
        </p:spPr>
      </p:sp>
      <p:sp>
        <p:nvSpPr>
          <p:cNvPr id="20" name="Shape 15"/>
          <p:cNvSpPr/>
          <p:nvPr/>
        </p:nvSpPr>
        <p:spPr>
          <a:xfrm>
            <a:off x="592931" y="476250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80089" y="57061"/>
                </a:moveTo>
                <a:lnTo>
                  <a:pt x="101999" y="143857"/>
                </a:lnTo>
                <a:cubicBezTo>
                  <a:pt x="98919" y="147273"/>
                  <a:pt x="99053" y="152564"/>
                  <a:pt x="102334" y="155845"/>
                </a:cubicBezTo>
                <a:cubicBezTo>
                  <a:pt x="122761" y="176272"/>
                  <a:pt x="155912" y="176272"/>
                  <a:pt x="176339" y="155845"/>
                </a:cubicBezTo>
                <a:lnTo>
                  <a:pt x="197636" y="134548"/>
                </a:lnTo>
                <a:cubicBezTo>
                  <a:pt x="200449" y="131735"/>
                  <a:pt x="203999" y="130195"/>
                  <a:pt x="207615" y="129927"/>
                </a:cubicBezTo>
                <a:cubicBezTo>
                  <a:pt x="212169" y="129525"/>
                  <a:pt x="216857" y="131065"/>
                  <a:pt x="220340" y="134548"/>
                </a:cubicBezTo>
                <a:lnTo>
                  <a:pt x="338614" y="251817"/>
                </a:lnTo>
                <a:lnTo>
                  <a:pt x="385763" y="214313"/>
                </a:lnTo>
                <a:lnTo>
                  <a:pt x="385763" y="21431"/>
                </a:lnTo>
                <a:lnTo>
                  <a:pt x="310753" y="64294"/>
                </a:lnTo>
                <a:lnTo>
                  <a:pt x="294814" y="53645"/>
                </a:lnTo>
                <a:cubicBezTo>
                  <a:pt x="284232" y="46613"/>
                  <a:pt x="271842" y="42863"/>
                  <a:pt x="259117" y="42863"/>
                </a:cubicBezTo>
                <a:lnTo>
                  <a:pt x="211968" y="42863"/>
                </a:lnTo>
                <a:cubicBezTo>
                  <a:pt x="211232" y="42863"/>
                  <a:pt x="210428" y="42863"/>
                  <a:pt x="209691" y="42929"/>
                </a:cubicBezTo>
                <a:cubicBezTo>
                  <a:pt x="198373" y="43532"/>
                  <a:pt x="187724" y="48622"/>
                  <a:pt x="180089" y="57061"/>
                </a:cubicBezTo>
                <a:close/>
                <a:moveTo>
                  <a:pt x="78090" y="122359"/>
                </a:moveTo>
                <a:lnTo>
                  <a:pt x="149617" y="42863"/>
                </a:lnTo>
                <a:lnTo>
                  <a:pt x="123096" y="42863"/>
                </a:lnTo>
                <a:cubicBezTo>
                  <a:pt x="106018" y="42863"/>
                  <a:pt x="89676" y="49627"/>
                  <a:pt x="77621" y="61682"/>
                </a:cubicBezTo>
                <a:lnTo>
                  <a:pt x="75009" y="64294"/>
                </a:lnTo>
                <a:lnTo>
                  <a:pt x="0" y="21431"/>
                </a:lnTo>
                <a:lnTo>
                  <a:pt x="0" y="214313"/>
                </a:lnTo>
                <a:lnTo>
                  <a:pt x="104745" y="301578"/>
                </a:lnTo>
                <a:cubicBezTo>
                  <a:pt x="120149" y="314437"/>
                  <a:pt x="139571" y="321469"/>
                  <a:pt x="159596" y="321469"/>
                </a:cubicBezTo>
                <a:lnTo>
                  <a:pt x="170111" y="321469"/>
                </a:lnTo>
                <a:lnTo>
                  <a:pt x="165422" y="316781"/>
                </a:lnTo>
                <a:cubicBezTo>
                  <a:pt x="159127" y="310485"/>
                  <a:pt x="159127" y="300305"/>
                  <a:pt x="165422" y="294077"/>
                </a:cubicBezTo>
                <a:cubicBezTo>
                  <a:pt x="171718" y="287848"/>
                  <a:pt x="181898" y="287782"/>
                  <a:pt x="188126" y="294077"/>
                </a:cubicBezTo>
                <a:lnTo>
                  <a:pt x="215585" y="321536"/>
                </a:lnTo>
                <a:lnTo>
                  <a:pt x="221613" y="321536"/>
                </a:lnTo>
                <a:cubicBezTo>
                  <a:pt x="234404" y="321536"/>
                  <a:pt x="246928" y="318656"/>
                  <a:pt x="258314" y="313298"/>
                </a:cubicBezTo>
                <a:lnTo>
                  <a:pt x="240432" y="295349"/>
                </a:lnTo>
                <a:cubicBezTo>
                  <a:pt x="234136" y="289054"/>
                  <a:pt x="234136" y="278874"/>
                  <a:pt x="240432" y="272646"/>
                </a:cubicBezTo>
                <a:cubicBezTo>
                  <a:pt x="246727" y="266417"/>
                  <a:pt x="256907" y="266350"/>
                  <a:pt x="263136" y="272646"/>
                </a:cubicBezTo>
                <a:lnTo>
                  <a:pt x="284567" y="294077"/>
                </a:lnTo>
                <a:lnTo>
                  <a:pt x="296287" y="282357"/>
                </a:lnTo>
                <a:cubicBezTo>
                  <a:pt x="302248" y="276396"/>
                  <a:pt x="303989" y="267757"/>
                  <a:pt x="301377" y="260189"/>
                </a:cubicBezTo>
                <a:lnTo>
                  <a:pt x="209022" y="168570"/>
                </a:lnTo>
                <a:lnTo>
                  <a:pt x="199043" y="178549"/>
                </a:lnTo>
                <a:cubicBezTo>
                  <a:pt x="166025" y="211567"/>
                  <a:pt x="112581" y="211567"/>
                  <a:pt x="79564" y="178549"/>
                </a:cubicBezTo>
                <a:cubicBezTo>
                  <a:pt x="64160" y="163145"/>
                  <a:pt x="63557" y="138432"/>
                  <a:pt x="78090" y="122292"/>
                </a:cubicBez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21" name="Text 16"/>
          <p:cNvSpPr/>
          <p:nvPr/>
        </p:nvSpPr>
        <p:spPr>
          <a:xfrm>
            <a:off x="1152525" y="4667250"/>
            <a:ext cx="3333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134 Active Investors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1152524" y="4933950"/>
            <a:ext cx="3836335" cy="33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Kenya's equity and debt funding rounds (2024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132713" y="4620466"/>
            <a:ext cx="3487043" cy="31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Inua Business connects qualifying SMEs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8132713" y="4933950"/>
            <a:ext cx="34870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directly into this active investor pipeline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333375" y="5543550"/>
            <a:ext cx="11477625" cy="447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 smtClean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</a:t>
            </a:r>
            <a:r>
              <a:rPr lang="en-US" sz="1600" b="1" dirty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not build this alone. We built it with Kenya's leading SME institutions</a:t>
            </a:r>
            <a:r>
              <a:rPr lang="en-US" sz="1500" b="1" dirty="0" smtClean="0">
                <a:solidFill>
                  <a:srgbClr val="2B2A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459" y="1362075"/>
            <a:ext cx="2440501" cy="192405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9262" y="1503269"/>
            <a:ext cx="1473574" cy="1473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155" y="3849356"/>
            <a:ext cx="2292295" cy="2615411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862" y="3884248"/>
            <a:ext cx="2292295" cy="2615411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6570" y="3898280"/>
            <a:ext cx="2164160" cy="2541420"/>
          </a:xfrm>
          <a:prstGeom prst="rect">
            <a:avLst/>
          </a:prstGeom>
        </p:spPr>
      </p:pic>
      <p:pic>
        <p:nvPicPr>
          <p:cNvPr id="53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548" y="3841936"/>
            <a:ext cx="2236966" cy="2615411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3824288"/>
            <a:ext cx="2292295" cy="2615411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9331" y="1248334"/>
            <a:ext cx="2091109" cy="2560542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45854" y="5538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Team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3" y="1300164"/>
            <a:ext cx="2451645" cy="2481262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0525" y="1304925"/>
            <a:ext cx="2446883" cy="17145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C9A36A">
                  <a:alpha val="20000"/>
                </a:srgbClr>
              </a:gs>
              <a:gs pos="100000">
                <a:srgbClr val="F4F3F1"/>
              </a:gs>
            </a:gsLst>
            <a:lin ang="540000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1488281" y="1876425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176105" y="276820"/>
                  <a:pt x="116086" y="216801"/>
                  <a:pt x="116086" y="142875"/>
                </a:cubicBezTo>
                <a:cubicBezTo>
                  <a:pt x="116086" y="68949"/>
                  <a:pt x="176105" y="8930"/>
                  <a:pt x="250031" y="8930"/>
                </a:cubicBezTo>
                <a:cubicBezTo>
                  <a:pt x="323958" y="8930"/>
                  <a:pt x="383977" y="68949"/>
                  <a:pt x="383977" y="142875"/>
                </a:cubicBezTo>
                <a:cubicBezTo>
                  <a:pt x="383977" y="216801"/>
                  <a:pt x="323958" y="276820"/>
                  <a:pt x="250031" y="276820"/>
                </a:cubicBezTo>
                <a:close/>
                <a:moveTo>
                  <a:pt x="215987" y="339328"/>
                </a:moveTo>
                <a:lnTo>
                  <a:pt x="284076" y="339328"/>
                </a:lnTo>
                <a:cubicBezTo>
                  <a:pt x="294903" y="339328"/>
                  <a:pt x="303609" y="348035"/>
                  <a:pt x="303609" y="358862"/>
                </a:cubicBezTo>
                <a:cubicBezTo>
                  <a:pt x="303609" y="363550"/>
                  <a:pt x="301935" y="368015"/>
                  <a:pt x="298921" y="371587"/>
                </a:cubicBezTo>
                <a:lnTo>
                  <a:pt x="268337" y="407305"/>
                </a:lnTo>
                <a:lnTo>
                  <a:pt x="302940" y="535781"/>
                </a:lnTo>
                <a:lnTo>
                  <a:pt x="303609" y="535781"/>
                </a:lnTo>
                <a:lnTo>
                  <a:pt x="342230" y="381186"/>
                </a:lnTo>
                <a:cubicBezTo>
                  <a:pt x="344686" y="371475"/>
                  <a:pt x="354620" y="365559"/>
                  <a:pt x="363996" y="369131"/>
                </a:cubicBezTo>
                <a:cubicBezTo>
                  <a:pt x="433090" y="395474"/>
                  <a:pt x="482203" y="462446"/>
                  <a:pt x="482203" y="540804"/>
                </a:cubicBezTo>
                <a:cubicBezTo>
                  <a:pt x="482203" y="557659"/>
                  <a:pt x="468474" y="571388"/>
                  <a:pt x="451619" y="571388"/>
                </a:cubicBezTo>
                <a:lnTo>
                  <a:pt x="48444" y="571500"/>
                </a:lnTo>
                <a:cubicBezTo>
                  <a:pt x="31589" y="571500"/>
                  <a:pt x="17859" y="557771"/>
                  <a:pt x="17859" y="540916"/>
                </a:cubicBezTo>
                <a:cubicBezTo>
                  <a:pt x="17859" y="462558"/>
                  <a:pt x="66973" y="395585"/>
                  <a:pt x="136066" y="369243"/>
                </a:cubicBezTo>
                <a:cubicBezTo>
                  <a:pt x="145442" y="365671"/>
                  <a:pt x="155377" y="371587"/>
                  <a:pt x="157832" y="381298"/>
                </a:cubicBezTo>
                <a:lnTo>
                  <a:pt x="196453" y="535893"/>
                </a:lnTo>
                <a:lnTo>
                  <a:pt x="197123" y="535893"/>
                </a:lnTo>
                <a:lnTo>
                  <a:pt x="231725" y="407417"/>
                </a:lnTo>
                <a:lnTo>
                  <a:pt x="201141" y="371698"/>
                </a:lnTo>
                <a:cubicBezTo>
                  <a:pt x="198127" y="368126"/>
                  <a:pt x="196453" y="363662"/>
                  <a:pt x="196453" y="358973"/>
                </a:cubicBezTo>
                <a:cubicBezTo>
                  <a:pt x="196453" y="348146"/>
                  <a:pt x="205160" y="339440"/>
                  <a:pt x="215987" y="339440"/>
                </a:cubicBezTo>
                <a:close/>
              </a:path>
            </a:pathLst>
          </a:custGeom>
          <a:solidFill>
            <a:srgbClr val="C9A36A"/>
          </a:solidFill>
          <a:ln/>
        </p:spPr>
      </p:sp>
      <p:sp>
        <p:nvSpPr>
          <p:cNvPr id="7" name="Text 5"/>
          <p:cNvSpPr/>
          <p:nvPr/>
        </p:nvSpPr>
        <p:spPr>
          <a:xfrm>
            <a:off x="489698" y="3052761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Allan </a:t>
            </a:r>
            <a:r>
              <a:rPr lang="en-US" sz="1500" b="1" dirty="0" err="1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Manthi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5854" y="3276599"/>
            <a:ext cx="2347913" cy="42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Leader &amp; CEO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926706" y="1288814"/>
            <a:ext cx="2301966" cy="2481263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93406" y="1876425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449052" y="571500"/>
                </a:lnTo>
                <a:cubicBezTo>
                  <a:pt x="467358" y="571500"/>
                  <a:pt x="482203" y="556654"/>
                  <a:pt x="482203" y="538349"/>
                </a:cubicBezTo>
                <a:cubicBezTo>
                  <a:pt x="482203" y="428402"/>
                  <a:pt x="393129" y="339328"/>
                  <a:pt x="283183" y="339328"/>
                </a:cubicBezTo>
                <a:lnTo>
                  <a:pt x="216880" y="339328"/>
                </a:lnTo>
                <a:close/>
              </a:path>
            </a:pathLst>
          </a:custGeom>
          <a:solidFill>
            <a:srgbClr val="6D6864"/>
          </a:solidFill>
          <a:ln/>
        </p:spPr>
      </p:sp>
      <p:sp>
        <p:nvSpPr>
          <p:cNvPr id="16" name="Text 14"/>
          <p:cNvSpPr/>
          <p:nvPr/>
        </p:nvSpPr>
        <p:spPr>
          <a:xfrm>
            <a:off x="3012280" y="3052761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 smtClean="0">
                <a:solidFill>
                  <a:srgbClr val="2B2A28"/>
                </a:solidFill>
                <a:latin typeface="Oranienbaum" pitchFamily="34" charset="0"/>
              </a:rPr>
              <a:t>Michelle </a:t>
            </a:r>
            <a:r>
              <a:rPr lang="en-US" sz="1500" b="1" dirty="0" err="1" smtClean="0">
                <a:solidFill>
                  <a:srgbClr val="2B2A28"/>
                </a:solidFill>
                <a:latin typeface="Oranienbaum" pitchFamily="34" charset="0"/>
              </a:rPr>
              <a:t>Akinyi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07943" y="3269456"/>
            <a:ext cx="2407022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C9A36A"/>
                </a:solidFill>
                <a:latin typeface="Quattrocento Sans" pitchFamily="34" charset="0"/>
              </a:rPr>
              <a:t>Social impact &amp; Community Outreach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284268" y="1231105"/>
            <a:ext cx="2219191" cy="2538972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66861" y="3052761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 smtClean="0">
                <a:solidFill>
                  <a:srgbClr val="2B2A28"/>
                </a:solidFill>
                <a:latin typeface="Oranienbaum" pitchFamily="34" charset="0"/>
              </a:rPr>
              <a:t>Kelvin </a:t>
            </a:r>
            <a:r>
              <a:rPr lang="en-US" sz="1500" b="1" dirty="0" err="1" smtClean="0">
                <a:solidFill>
                  <a:srgbClr val="2B2A28"/>
                </a:solidFill>
                <a:latin typeface="Oranienbaum" pitchFamily="34" charset="0"/>
              </a:rPr>
              <a:t>Wanjiru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66861" y="3287314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C9A36A"/>
                </a:solidFill>
                <a:latin typeface="Quattrocento Sans" pitchFamily="34" charset="0"/>
              </a:rPr>
              <a:t>Impact &amp; Data Lead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7677091" y="1230125"/>
            <a:ext cx="2018608" cy="2551301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E6E4E1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64617" y="3000623"/>
            <a:ext cx="2486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Mutai Victor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64617" y="3246239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 smtClean="0">
                <a:solidFill>
                  <a:srgbClr val="C9A36A"/>
                </a:solidFill>
                <a:latin typeface="Quattrocento Sans" pitchFamily="34" charset="0"/>
              </a:rPr>
              <a:t>Backend Developer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007646" y="2992251"/>
            <a:ext cx="1105488" cy="27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Faith </a:t>
            </a:r>
            <a:r>
              <a:rPr lang="en-US" sz="1500" b="1" dirty="0" err="1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Muthee</a:t>
            </a:r>
            <a:r>
              <a:rPr lang="en-US" sz="1500" b="1" dirty="0" smtClean="0">
                <a:solidFill>
                  <a:srgbClr val="2B2A28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007646" y="3279824"/>
            <a:ext cx="1506330" cy="384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400" b="1" dirty="0" smtClean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Strategy &amp;Finance</a:t>
            </a:r>
            <a:r>
              <a:rPr lang="en-US" sz="1350" b="1" dirty="0" smtClean="0">
                <a:solidFill>
                  <a:srgbClr val="C9A36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64" y="1304924"/>
            <a:ext cx="2451644" cy="1704975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519" y="1172975"/>
            <a:ext cx="2284387" cy="1833563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954" y="1258141"/>
            <a:ext cx="2153505" cy="175484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16"/>
          <a:stretch/>
        </p:blipFill>
        <p:spPr>
          <a:xfrm>
            <a:off x="7686052" y="1205896"/>
            <a:ext cx="1993209" cy="1786355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3051" y="1288814"/>
            <a:ext cx="1963668" cy="1711809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98" y="3898279"/>
            <a:ext cx="2236966" cy="1728433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004" y="3880256"/>
            <a:ext cx="2151465" cy="1665117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8" t="4048" r="5935" b="21323"/>
          <a:stretch/>
        </p:blipFill>
        <p:spPr>
          <a:xfrm>
            <a:off x="5052601" y="3938597"/>
            <a:ext cx="2094313" cy="1595427"/>
          </a:xfrm>
          <a:prstGeom prst="rect">
            <a:avLst/>
          </a:prstGeom>
        </p:spPr>
      </p:pic>
      <p:pic>
        <p:nvPicPr>
          <p:cNvPr id="60" name="Picture 5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102" y="3898279"/>
            <a:ext cx="1906400" cy="1504007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489698" y="5479207"/>
            <a:ext cx="13837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latin typeface="Oranienbaum" panose="020B0604020202020204" charset="0"/>
              </a:rPr>
              <a:t>Ikasironi</a:t>
            </a:r>
            <a:r>
              <a:rPr lang="en-US" sz="1600" b="1" dirty="0" smtClean="0">
                <a:latin typeface="Oranienbaum" panose="020B0604020202020204" charset="0"/>
              </a:rPr>
              <a:t> Brian</a:t>
            </a:r>
            <a:endParaRPr lang="en-US" sz="1600" b="1" dirty="0">
              <a:latin typeface="Oranienbaum" panose="020B060402020202020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747142" y="5556455"/>
            <a:ext cx="14542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Oranienbaum" panose="020B0604020202020204" charset="0"/>
              </a:rPr>
              <a:t>Marvin </a:t>
            </a:r>
            <a:r>
              <a:rPr lang="en-US" sz="1600" b="1" dirty="0" err="1" smtClean="0">
                <a:latin typeface="Oranienbaum" panose="020B0604020202020204" charset="0"/>
              </a:rPr>
              <a:t>Mbugua</a:t>
            </a:r>
            <a:endParaRPr lang="en-US" sz="1600" b="1" dirty="0">
              <a:latin typeface="Oranienbaum" panose="020B0604020202020204" charset="0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099646" y="5564361"/>
            <a:ext cx="12666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Oranienbaum" panose="020B0604020202020204" charset="0"/>
              </a:rPr>
              <a:t>Mercy </a:t>
            </a:r>
            <a:r>
              <a:rPr lang="en-US" sz="1600" b="1" dirty="0" err="1" smtClean="0">
                <a:latin typeface="Oranienbaum" panose="020B0604020202020204" charset="0"/>
              </a:rPr>
              <a:t>Jemeli</a:t>
            </a:r>
            <a:endParaRPr lang="en-US" sz="1600" b="1" dirty="0">
              <a:latin typeface="Oranienbaum" panose="020B0604020202020204" charset="0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503459" y="5601574"/>
            <a:ext cx="12121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smtClean="0">
                <a:latin typeface="Oranienbaum" panose="020B0604020202020204" charset="0"/>
              </a:rPr>
              <a:t>Mark </a:t>
            </a:r>
            <a:r>
              <a:rPr lang="en-US" sz="1600" b="1" dirty="0" err="1" smtClean="0">
                <a:latin typeface="Oranienbaum" panose="020B0604020202020204" charset="0"/>
              </a:rPr>
              <a:t>Katabo</a:t>
            </a:r>
            <a:endParaRPr lang="en-US" sz="1600" b="1" dirty="0">
              <a:latin typeface="Oranienbaum" panose="020B0604020202020204" charset="0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869331" y="5556111"/>
            <a:ext cx="12875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 smtClean="0">
                <a:latin typeface="Oranienbaum" panose="020B0604020202020204" charset="0"/>
              </a:rPr>
              <a:t>Aphiud</a:t>
            </a:r>
            <a:r>
              <a:rPr lang="en-US" sz="1600" b="1" dirty="0" smtClean="0">
                <a:latin typeface="Oranienbaum" panose="020B0604020202020204" charset="0"/>
              </a:rPr>
              <a:t> </a:t>
            </a:r>
            <a:r>
              <a:rPr lang="en-US" sz="1600" b="1" dirty="0" err="1" smtClean="0">
                <a:latin typeface="Oranienbaum" panose="020B0604020202020204" charset="0"/>
              </a:rPr>
              <a:t>Bosire</a:t>
            </a:r>
            <a:endParaRPr lang="en-US" sz="1600" b="1" dirty="0">
              <a:latin typeface="Oranienbaum" panose="020B0604020202020204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90711" y="5731650"/>
            <a:ext cx="7405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Quattrocento Sans" panose="020B0604020202020204" charset="0"/>
              </a:rPr>
              <a:t>CTO</a:t>
            </a:r>
            <a:endParaRPr lang="en-US" sz="1600" b="1" dirty="0">
              <a:solidFill>
                <a:schemeClr val="accent2">
                  <a:lumMod val="60000"/>
                  <a:lumOff val="40000"/>
                </a:schemeClr>
              </a:solidFill>
              <a:latin typeface="Quattrocento Sans" panose="020B0604020202020204" charset="0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503459" y="5824626"/>
            <a:ext cx="17482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Quattrocento Sans" panose="020B0604020202020204" charset="0"/>
              </a:rPr>
              <a:t>Project Management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Quattrocento Sans" panose="020B060402020202020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5055609" y="5801630"/>
            <a:ext cx="21836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Quattrocento Sans" panose="020B0604020202020204" charset="0"/>
              </a:rPr>
              <a:t>Operations &amp; Compliance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Quattrocento Sans" panose="020B060402020202020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2781993" y="5770853"/>
            <a:ext cx="126348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Quattrocento Sans" panose="020B0604020202020204" charset="0"/>
              </a:rPr>
              <a:t>QA &amp; DevOps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Quattrocento Sans" panose="020B060402020202020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875315" y="5772342"/>
            <a:ext cx="17363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Quattrocento Sans" panose="020B0604020202020204" charset="0"/>
              </a:rPr>
              <a:t>Frontend Developer</a:t>
            </a:r>
            <a:endParaRPr lang="en-US" sz="1400" b="1" dirty="0">
              <a:solidFill>
                <a:schemeClr val="accent2">
                  <a:lumMod val="60000"/>
                  <a:lumOff val="40000"/>
                </a:schemeClr>
              </a:solidFill>
              <a:latin typeface="Quattrocento Sans" panose="020B0604020202020204" charset="0"/>
            </a:endParaRPr>
          </a:p>
        </p:txBody>
      </p:sp>
      <p:pic>
        <p:nvPicPr>
          <p:cNvPr id="73" name="Picture 72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5" t="18236" r="3522" b="34706"/>
          <a:stretch/>
        </p:blipFill>
        <p:spPr>
          <a:xfrm>
            <a:off x="7371928" y="3830587"/>
            <a:ext cx="2184876" cy="1821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3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637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B2A28">
                  <a:alpha val="60000"/>
                </a:srgbClr>
              </a:gs>
              <a:gs pos="50000">
                <a:srgbClr val="2B2A28">
                  <a:alpha val="40000"/>
                </a:srgbClr>
              </a:gs>
              <a:gs pos="100000">
                <a:srgbClr val="2B2A28">
                  <a:alpha val="90000"/>
                </a:srgbClr>
              </a:gs>
            </a:gsLst>
            <a:lin ang="54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876276" y="381000"/>
            <a:ext cx="8439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 err="1" smtClean="0">
                <a:solidFill>
                  <a:srgbClr val="FFFFFF"/>
                </a:solidFill>
                <a:latin typeface="Oranienbaum" pitchFamily="34" charset="0"/>
              </a:rPr>
              <a:t>Inua</a:t>
            </a:r>
            <a:r>
              <a:rPr lang="en-US" sz="4500" b="1" dirty="0" smtClean="0">
                <a:solidFill>
                  <a:srgbClr val="FFFFFF"/>
                </a:solidFill>
                <a:latin typeface="Oranienbaum" pitchFamily="34" charset="0"/>
              </a:rPr>
              <a:t> transforms invisible MSMEs into investor-ready businesses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90576" y="1157123"/>
            <a:ext cx="8324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platform to help SMEs survive, grow, and connect.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43401" y="3997571"/>
            <a:ext cx="1219200" cy="38100"/>
          </a:xfrm>
          <a:prstGeom prst="roundRect">
            <a:avLst>
              <a:gd name="adj" fmla="val 0"/>
            </a:avLst>
          </a:prstGeom>
          <a:solidFill>
            <a:srgbClr val="C9A36A"/>
          </a:solidFill>
          <a:ln/>
        </p:spPr>
      </p:sp>
      <p:sp>
        <p:nvSpPr>
          <p:cNvPr id="8" name="Text 5"/>
          <p:cNvSpPr/>
          <p:nvPr/>
        </p:nvSpPr>
        <p:spPr>
          <a:xfrm>
            <a:off x="3841700" y="2876549"/>
            <a:ext cx="4505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INUA </a:t>
            </a:r>
            <a:r>
              <a:rPr lang="en-US" sz="5400" b="1" dirty="0" smtClean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BUSINESS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90876" y="3591043"/>
            <a:ext cx="3524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kern="0" spc="5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Diagnose. Grow. Connect.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513088" y="6210300"/>
            <a:ext cx="5162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africa.pilcchina.org | Kabarak University | CICSIC Africa Division 2026</a:t>
            </a:r>
            <a:endParaRPr lang="en-US" sz="1600" dirty="0"/>
          </a:p>
        </p:txBody>
      </p:sp>
      <p:sp>
        <p:nvSpPr>
          <p:cNvPr id="12" name="Rectangle 11"/>
          <p:cNvSpPr/>
          <p:nvPr/>
        </p:nvSpPr>
        <p:spPr>
          <a:xfrm>
            <a:off x="4533810" y="5121614"/>
            <a:ext cx="35714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THANKYOU</a:t>
            </a:r>
            <a:endParaRPr lang="en-US" sz="5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848</Words>
  <Application>Microsoft Office PowerPoint</Application>
  <PresentationFormat>Widescreen</PresentationFormat>
  <Paragraphs>238</Paragraphs>
  <Slides>16</Slides>
  <Notes>12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Arial</vt:lpstr>
      <vt:lpstr>Quattrocento Sans</vt:lpstr>
      <vt:lpstr>Oranienbaum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INUA BUSINESS — Pitch Deck</dc:title>
  <dc:subject>INUA BUSINESS — Pitch Deck</dc:subject>
  <dc:creator>Kimi</dc:creator>
  <cp:lastModifiedBy>user</cp:lastModifiedBy>
  <cp:revision>80</cp:revision>
  <dcterms:created xsi:type="dcterms:W3CDTF">2026-05-23T17:48:26Z</dcterms:created>
  <dcterms:modified xsi:type="dcterms:W3CDTF">2026-07-24T11:41:05Z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{"Label":"INUA BUSINESS — Pitch Deck","ContentProducer":"001191110108MACG2KBH8F10000","ProduceID":"19e55ee2-2622-8139-8000-00000dcf082d","ReservedCode1":"","ContentPropagator":"001191110108MACG2KBH8F20000","PropagateID":"19e55ee2-2622-8139-8000-00000dcf08</vt:lpwstr>
  </property>
</Properties>
</file>